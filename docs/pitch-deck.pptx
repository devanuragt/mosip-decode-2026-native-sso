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6557425-bb4a-f652-f6db-bdc9fd206e17}">
          <p14:sldIdLst>
            <p14:sldId id="256"/>
          </p14:sldIdLst>
        </p14:section>
        <p14:section name="Problem and approach" id="{542c0045-c9ea-024b-fdda-9a334b51a0c6}">
          <p14:sldIdLst>
            <p14:sldId id="257"/>
            <p14:sldId id="258"/>
          </p14:sldIdLst>
        </p14:section>
        <p14:section name="How it works" id="{8feaeda9-11d3-4578-efc2-2f82c96c77c6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5f24828e-1f55-f624-88f6-a57a0b98b946}">
          <p14:sldIdLst>
            <p14:sldId id="264"/>
            <p14:sldId id="265"/>
            <p14:sldId id="266"/>
            <p14:sldId id="267"/>
          </p14:sldIdLst>
        </p14:section>
        <p14:section name="Closing" id="{c4df5e46-f01e-1267-f845-4a5d4314142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One login, every app: a citizen signs in once in the vendor's super app and every sibling app on the phone reuses that login without a browser, an OTP or a consent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native SSO is a real problem for national ID programmes: every app of the same vendor re-runs UIN, OTP and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super app logs in once with device_sso; the device secret is cryptographically bound; the child app exchanges it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 side: Wallet holds Key A and exposes a ContentProvider; Health never holds a key. Server side: the ThunderID engine enforces the grant rules, eSignet's DeviceSecretProvider mints and validates the secret through the keymanager and records derived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1 is a standard FAPI 2.0 authorization-code login plus the device_sso scope. Steps 4 to 6 (orange) are the new engine and provider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2 is RFC 8693 token exchange with the device secret as actor token. The child app never touches Key A; the Wallet signs its DPoP proofs. The screenshot shows the silent sign-in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binding is enforced in the engine and covered by a negative end-to-end test. Blue: token-level bindings; orange: policy bindings.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bonus task: when the child needs a claim the user declined for the super app, the silent path is refused and the child falls back to an interactive consent for its own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ten tasks of the problem statement and the bonus, with where each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two upstream PRs, 35 end-to-end checks, 50+ unit tests, three Android modules, plus the documentation set. Both PR branches are DCO signed-off.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SDK and the two apps are a template for relying parties: everything a vendor needs to adopt native SSO is in the SDK. Left: Vendor Wallet signed in; right: Vendor Health signed in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work goes upstream and what a production deployment would add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one trusted login, reused securely across every app in the vendor family. Everything needed to run it is in the submission repository; the three commands bring up the stack and run the end-to-end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365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Decode 2026 · PS03 · Native SSO in eSignet (Go) · Team AlphaQ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ext 1"/>
          <p:cNvSpPr txBox="1"/>
          <p:nvPr/>
        </p:nvSpPr>
        <p:spPr>
          <a:xfrm>
            <a:off x="548640" y="640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DECODE 2026 · PROBLEM STATEMENT 03</a:t>
            </a:r>
            <a:endParaRPr lang="en-US" sz="1200" dirty="0"/>
          </a:p>
        </p:txBody>
      </p:sp>
      <p:sp>
        <p:nvSpPr>
          <p:cNvPr id="1003" name="deck title"/>
          <p:cNvSpPr txBox="1"/>
          <p:nvPr/>
        </p:nvSpPr>
        <p:spPr>
          <a:xfrm>
            <a:off x="548640" y="105156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login,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app.</a:t>
            </a:r>
            <a:endParaRPr lang="en-US" sz="4400" dirty="0"/>
          </a:p>
        </p:txBody>
      </p:sp>
      <p:sp>
        <p:nvSpPr>
          <p:cNvPr id="1004" name="text 2"/>
          <p:cNvSpPr txBox="1"/>
          <p:nvPr/>
        </p:nvSpPr>
        <p:spPr>
          <a:xfrm>
            <a:off x="548640" y="25603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Connect Native SSO for mobile apps, built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eSignet (Go) and the ThunderID engine, with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Android SDK and two reference apps.</a:t>
            </a:r>
            <a:endParaRPr lang="en-US" sz="1600" dirty="0"/>
          </a:p>
        </p:txBody>
      </p:sp>
      <p:sp>
        <p:nvSpPr>
          <p:cNvPr id="1005" name="text 3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AlphaQ</a:t>
            </a:r>
            <a:endParaRPr lang="en-US" sz="1800" dirty="0"/>
          </a:p>
        </p:txBody>
      </p:sp>
      <p:sp>
        <p:nvSpPr>
          <p:cNvPr id="1006" name="text 4"/>
          <p:cNvSpPr txBox="1"/>
          <p:nvPr/>
        </p:nvSpPr>
        <p:spPr>
          <a:xfrm>
            <a:off x="54864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| Enable Native SSO in eSignet Go for Mobile Apps</a:t>
            </a:r>
            <a:endParaRPr lang="en-US" sz="1200" dirty="0"/>
          </a:p>
        </p:txBody>
      </p:sp>
      <p:sp>
        <p:nvSpPr>
          <p:cNvPr id="1007" name="login badge 5"/>
          <p:cNvSpPr/>
          <p:nvPr/>
        </p:nvSpPr>
        <p:spPr>
          <a:xfrm>
            <a:off x="5806440" y="2080260"/>
            <a:ext cx="1051560" cy="1097280"/>
          </a:xfrm>
          <a:prstGeom prst="roundRect">
            <a:avLst>
              <a:gd name="adj" fmla="val 13043"/>
            </a:avLst>
          </a:prstGeom>
          <a:solidFill>
            <a:schemeClr val="accent1"/>
          </a:solidFill>
          <a:ln/>
        </p:spPr>
      </p:sp>
      <p:sp>
        <p:nvSpPr>
          <p:cNvPr id="1008" name="login badge text"/>
          <p:cNvSpPr txBox="1"/>
          <p:nvPr/>
        </p:nvSpPr>
        <p:spPr>
          <a:xfrm>
            <a:off x="5806440" y="2080260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3000" dirty="0"/>
          </a:p>
        </p:txBody>
      </p:sp>
      <p:sp>
        <p:nvSpPr>
          <p:cNvPr id="1009" name="arrow 6"/>
          <p:cNvSpPr/>
          <p:nvPr/>
        </p:nvSpPr>
        <p:spPr>
          <a:xfrm>
            <a:off x="6858000" y="2628900"/>
            <a:ext cx="68580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0" name="connector 7"/>
          <p:cNvSpPr/>
          <p:nvPr/>
        </p:nvSpPr>
        <p:spPr>
          <a:xfrm>
            <a:off x="7178040" y="1577340"/>
            <a:ext cx="0" cy="2103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1011" name="arrow 8"/>
          <p:cNvSpPr/>
          <p:nvPr/>
        </p:nvSpPr>
        <p:spPr>
          <a:xfrm>
            <a:off x="7178040" y="1577340"/>
            <a:ext cx="3657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2" name="arrow 9"/>
          <p:cNvSpPr/>
          <p:nvPr/>
        </p:nvSpPr>
        <p:spPr>
          <a:xfrm>
            <a:off x="7178040" y="3680460"/>
            <a:ext cx="3657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13" name="app Wallet 10"/>
          <p:cNvSpPr/>
          <p:nvPr/>
        </p:nvSpPr>
        <p:spPr>
          <a:xfrm>
            <a:off x="7543800" y="1234440"/>
            <a:ext cx="1143000" cy="6858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1014" name="text 11"/>
          <p:cNvSpPr txBox="1"/>
          <p:nvPr/>
        </p:nvSpPr>
        <p:spPr>
          <a:xfrm>
            <a:off x="7543800" y="12344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400" dirty="0"/>
          </a:p>
        </p:txBody>
      </p:sp>
      <p:sp>
        <p:nvSpPr>
          <p:cNvPr id="1015" name="app Health 12"/>
          <p:cNvSpPr/>
          <p:nvPr/>
        </p:nvSpPr>
        <p:spPr>
          <a:xfrm>
            <a:off x="7543800" y="2286000"/>
            <a:ext cx="1143000" cy="6858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016" name="text 13"/>
          <p:cNvSpPr txBox="1"/>
          <p:nvPr/>
        </p:nvSpPr>
        <p:spPr>
          <a:xfrm>
            <a:off x="7543800" y="2286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400" dirty="0"/>
          </a:p>
        </p:txBody>
      </p:sp>
      <p:sp>
        <p:nvSpPr>
          <p:cNvPr id="1017" name="app Tax 14"/>
          <p:cNvSpPr/>
          <p:nvPr/>
        </p:nvSpPr>
        <p:spPr>
          <a:xfrm>
            <a:off x="7543800" y="3337560"/>
            <a:ext cx="1143000" cy="6858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</p:spPr>
      </p:sp>
      <p:sp>
        <p:nvSpPr>
          <p:cNvPr id="1018" name="text 15"/>
          <p:cNvSpPr txBox="1"/>
          <p:nvPr/>
        </p:nvSpPr>
        <p:spPr>
          <a:xfrm>
            <a:off x="7543800" y="333756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apps do not share a login</a:t>
            </a:r>
            <a:endParaRPr lang="en-US" sz="2800" dirty="0"/>
          </a:p>
        </p:txBody>
      </p:sp>
      <p:sp>
        <p:nvSpPr>
          <p:cNvPr id="2003" name="text 16"/>
          <p:cNvSpPr txBox="1"/>
          <p:nvPr/>
        </p:nvSpPr>
        <p:spPr>
          <a:xfrm>
            <a:off x="457200" y="1051560"/>
            <a:ext cx="493776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citizen with a wallet, a health app and a tax app from the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vendor authenticates three times: UIN, OTP and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in every app, on the same phone. Browser cookies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reach a native app's sandbox, so web SSO does not</a:t>
            </a:r>
            <a:br/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help.</a:t>
            </a:r>
            <a:endParaRPr lang="en-US" sz="1400" dirty="0"/>
          </a:p>
        </p:txBody>
      </p:sp>
      <p:sp>
        <p:nvSpPr>
          <p:cNvPr id="2004" name="card 17"/>
          <p:cNvSpPr/>
          <p:nvPr/>
        </p:nvSpPr>
        <p:spPr>
          <a:xfrm>
            <a:off x="457200" y="2392680"/>
            <a:ext cx="1463040" cy="21183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05" name="text 18"/>
          <p:cNvSpPr txBox="1"/>
          <p:nvPr/>
        </p:nvSpPr>
        <p:spPr>
          <a:xfrm>
            <a:off x="64008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</a:t>
            </a:r>
            <a:endParaRPr lang="en-US" sz="5200" dirty="0"/>
          </a:p>
        </p:txBody>
      </p:sp>
      <p:sp>
        <p:nvSpPr>
          <p:cNvPr id="2006" name="text 19"/>
          <p:cNvSpPr txBox="1"/>
          <p:nvPr/>
        </p:nvSpPr>
        <p:spPr>
          <a:xfrm>
            <a:off x="64008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and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for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apps</a:t>
            </a:r>
            <a:endParaRPr lang="en-US" sz="1300" dirty="0"/>
          </a:p>
        </p:txBody>
      </p:sp>
      <p:sp>
        <p:nvSpPr>
          <p:cNvPr id="2007" name="card 20"/>
          <p:cNvSpPr/>
          <p:nvPr/>
        </p:nvSpPr>
        <p:spPr>
          <a:xfrm>
            <a:off x="2194560" y="2392680"/>
            <a:ext cx="1463040" cy="21183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08" name="text 21"/>
          <p:cNvSpPr txBox="1"/>
          <p:nvPr/>
        </p:nvSpPr>
        <p:spPr>
          <a:xfrm>
            <a:off x="237744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2009" name="text 22"/>
          <p:cNvSpPr txBox="1"/>
          <p:nvPr/>
        </p:nvSpPr>
        <p:spPr>
          <a:xfrm>
            <a:off x="237744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apps</a:t>
            </a:r>
            <a:endParaRPr lang="en-US" sz="1300" dirty="0"/>
          </a:p>
        </p:txBody>
      </p:sp>
      <p:sp>
        <p:nvSpPr>
          <p:cNvPr id="2010" name="card 23"/>
          <p:cNvSpPr/>
          <p:nvPr/>
        </p:nvSpPr>
        <p:spPr>
          <a:xfrm>
            <a:off x="3931920" y="2392680"/>
            <a:ext cx="1463040" cy="21183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11" name="text 24"/>
          <p:cNvSpPr txBox="1"/>
          <p:nvPr/>
        </p:nvSpPr>
        <p:spPr>
          <a:xfrm>
            <a:off x="4114800" y="2621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200" dirty="0"/>
          </a:p>
        </p:txBody>
      </p:sp>
      <p:sp>
        <p:nvSpPr>
          <p:cNvPr id="2012" name="text 25"/>
          <p:cNvSpPr txBox="1"/>
          <p:nvPr/>
        </p:nvSpPr>
        <p:spPr>
          <a:xfrm>
            <a:off x="4114800" y="3489960"/>
            <a:ext cx="109728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login</a:t>
            </a:r>
            <a:br/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all it takes</a:t>
            </a:r>
            <a:endParaRPr lang="en-US" sz="1300" dirty="0"/>
          </a:p>
        </p:txBody>
      </p:sp>
      <p:sp>
        <p:nvSpPr>
          <p:cNvPr id="2013" name="spec panel 26"/>
          <p:cNvSpPr/>
          <p:nvPr/>
        </p:nvSpPr>
        <p:spPr>
          <a:xfrm>
            <a:off x="5669280" y="1051560"/>
            <a:ext cx="3017520" cy="345948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2014" name="text 27"/>
          <p:cNvSpPr txBox="1"/>
          <p:nvPr/>
        </p:nvSpPr>
        <p:spPr>
          <a:xfrm>
            <a:off x="5943600" y="14737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spec asks for</a:t>
            </a:r>
            <a:endParaRPr lang="en-US" sz="1500" dirty="0"/>
          </a:p>
        </p:txBody>
      </p:sp>
      <p:sp>
        <p:nvSpPr>
          <p:cNvPr id="2015" name="marker 28"/>
          <p:cNvSpPr/>
          <p:nvPr/>
        </p:nvSpPr>
        <p:spPr>
          <a:xfrm>
            <a:off x="5943600" y="1976628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16" name="list item 29"/>
          <p:cNvSpPr txBox="1"/>
          <p:nvPr/>
        </p:nvSpPr>
        <p:spPr>
          <a:xfrm>
            <a:off x="6172200" y="19309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designed, cryptographically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secured hand-off of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state between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on one device</a:t>
            </a:r>
            <a:endParaRPr lang="en-US" sz="1200" dirty="0"/>
          </a:p>
        </p:txBody>
      </p:sp>
      <p:sp>
        <p:nvSpPr>
          <p:cNvPr id="2017" name="marker 30"/>
          <p:cNvSpPr/>
          <p:nvPr/>
        </p:nvSpPr>
        <p:spPr>
          <a:xfrm>
            <a:off x="5943600" y="287274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18" name="list item 31"/>
          <p:cNvSpPr txBox="1"/>
          <p:nvPr/>
        </p:nvSpPr>
        <p:spPr>
          <a:xfrm>
            <a:off x="6172200" y="28270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cookie, no repeated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no silent widening of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endParaRPr lang="en-US" sz="1200" dirty="0"/>
          </a:p>
        </p:txBody>
      </p:sp>
      <p:sp>
        <p:nvSpPr>
          <p:cNvPr id="2019" name="marker 32"/>
          <p:cNvSpPr/>
          <p:nvPr/>
        </p:nvSpPr>
        <p:spPr>
          <a:xfrm>
            <a:off x="5943600" y="3585972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20" name="list item 33"/>
          <p:cNvSpPr txBox="1"/>
          <p:nvPr/>
        </p:nvSpPr>
        <p:spPr>
          <a:xfrm>
            <a:off x="6172200" y="35402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OIDC Native SSO 1.0,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token exchange,</a:t>
            </a:r>
            <a:br/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9449 DPoP and FAPI 2.0</a:t>
            </a:r>
            <a:endParaRPr lang="en-US" sz="1200" dirty="0"/>
          </a:p>
        </p:txBody>
      </p:sp>
      <p:sp>
        <p:nvSpPr>
          <p:cNvPr id="20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3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 in three moves</a:t>
            </a:r>
            <a:endParaRPr lang="en-US" sz="2800" dirty="0"/>
          </a:p>
        </p:txBody>
      </p:sp>
      <p:sp>
        <p:nvSpPr>
          <p:cNvPr id="3003" name="card 34"/>
          <p:cNvSpPr/>
          <p:nvPr/>
        </p:nvSpPr>
        <p:spPr>
          <a:xfrm>
            <a:off x="457200" y="1051560"/>
            <a:ext cx="2560320" cy="2441448"/>
          </a:xfrm>
          <a:prstGeom prst="roundRect">
            <a:avLst>
              <a:gd name="adj" fmla="val 29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04" name="badge 35"/>
          <p:cNvSpPr/>
          <p:nvPr/>
        </p:nvSpPr>
        <p:spPr>
          <a:xfrm>
            <a:off x="68580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05" name="badge text 36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06" name="text 37"/>
          <p:cNvSpPr txBox="1"/>
          <p:nvPr/>
        </p:nvSpPr>
        <p:spPr>
          <a:xfrm>
            <a:off x="11887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</a:t>
            </a:r>
            <a:endParaRPr lang="en-US" sz="1100" dirty="0"/>
          </a:p>
        </p:txBody>
      </p:sp>
      <p:sp>
        <p:nvSpPr>
          <p:cNvPr id="3007" name="text 38"/>
          <p:cNvSpPr txBox="1"/>
          <p:nvPr/>
        </p:nvSpPr>
        <p:spPr>
          <a:xfrm>
            <a:off x="68580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Logs in once</a:t>
            </a:r>
            <a:endParaRPr lang="en-US" sz="1600" dirty="0"/>
          </a:p>
        </p:txBody>
      </p:sp>
      <p:sp>
        <p:nvSpPr>
          <p:cNvPr id="3008" name="text 39"/>
          <p:cNvSpPr txBox="1"/>
          <p:nvPr/>
        </p:nvSpPr>
        <p:spPr>
          <a:xfrm>
            <a:off x="68580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 PKCE + DPoP with a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key (Key A) and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device_sso scope.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returns an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access_token, an id_token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device_secret.</a:t>
            </a:r>
            <a:endParaRPr lang="en-US" sz="1200" dirty="0"/>
          </a:p>
        </p:txBody>
      </p:sp>
      <p:sp>
        <p:nvSpPr>
          <p:cNvPr id="3009" name="card 40"/>
          <p:cNvSpPr/>
          <p:nvPr/>
        </p:nvSpPr>
        <p:spPr>
          <a:xfrm>
            <a:off x="3291840" y="1051560"/>
            <a:ext cx="2560320" cy="2441448"/>
          </a:xfrm>
          <a:prstGeom prst="roundRect">
            <a:avLst>
              <a:gd name="adj" fmla="val 29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10" name="badge 41"/>
          <p:cNvSpPr/>
          <p:nvPr/>
        </p:nvSpPr>
        <p:spPr>
          <a:xfrm>
            <a:off x="3520440" y="12801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11" name="badge text 42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12" name="text 43"/>
          <p:cNvSpPr txBox="1"/>
          <p:nvPr/>
        </p:nvSpPr>
        <p:spPr>
          <a:xfrm>
            <a:off x="40233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SECRET</a:t>
            </a:r>
            <a:endParaRPr lang="en-US" sz="1100" dirty="0"/>
          </a:p>
        </p:txBody>
      </p:sp>
      <p:sp>
        <p:nvSpPr>
          <p:cNvPr id="3013" name="text 44"/>
          <p:cNvSpPr txBox="1"/>
          <p:nvPr/>
        </p:nvSpPr>
        <p:spPr>
          <a:xfrm>
            <a:off x="352044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 bound</a:t>
            </a:r>
            <a:endParaRPr lang="en-US" sz="1600" dirty="0"/>
          </a:p>
        </p:txBody>
      </p:sp>
      <p:sp>
        <p:nvSpPr>
          <p:cNvPr id="3014" name="text 45"/>
          <p:cNvSpPr txBox="1"/>
          <p:nvPr/>
        </p:nvSpPr>
        <p:spPr>
          <a:xfrm>
            <a:off x="352044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signed-then-encrypted JWT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carrying cnf.jkt = Key A, sid,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the consented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claims. The id_token carries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ds_hash and the same sid.</a:t>
            </a:r>
            <a:endParaRPr lang="en-US" sz="1200" dirty="0"/>
          </a:p>
        </p:txBody>
      </p:sp>
      <p:sp>
        <p:nvSpPr>
          <p:cNvPr id="3015" name="card 46"/>
          <p:cNvSpPr/>
          <p:nvPr/>
        </p:nvSpPr>
        <p:spPr>
          <a:xfrm>
            <a:off x="6126480" y="1051560"/>
            <a:ext cx="2560320" cy="2441448"/>
          </a:xfrm>
          <a:prstGeom prst="roundRect">
            <a:avLst>
              <a:gd name="adj" fmla="val 29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16" name="badge 47"/>
          <p:cNvSpPr/>
          <p:nvPr/>
        </p:nvSpPr>
        <p:spPr>
          <a:xfrm>
            <a:off x="6355080" y="12801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17" name="badge text 48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18" name="text 49"/>
          <p:cNvSpPr txBox="1"/>
          <p:nvPr/>
        </p:nvSpPr>
        <p:spPr>
          <a:xfrm>
            <a:off x="68580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</a:t>
            </a:r>
            <a:endParaRPr lang="en-US" sz="1100" dirty="0"/>
          </a:p>
        </p:txBody>
      </p:sp>
      <p:sp>
        <p:nvSpPr>
          <p:cNvPr id="3019" name="text 50"/>
          <p:cNvSpPr txBox="1"/>
          <p:nvPr/>
        </p:nvSpPr>
        <p:spPr>
          <a:xfrm>
            <a:off x="635508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in silently</a:t>
            </a:r>
            <a:endParaRPr lang="en-US" sz="1600" dirty="0"/>
          </a:p>
        </p:txBody>
      </p:sp>
      <p:sp>
        <p:nvSpPr>
          <p:cNvPr id="3020" name="text 51"/>
          <p:cNvSpPr txBox="1"/>
          <p:nvPr/>
        </p:nvSpPr>
        <p:spPr>
          <a:xfrm>
            <a:off x="6355080" y="216712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a signature-protected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 it receives id_token +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device_secret + a DPoP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signed by Key A, and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exchanges them (RFC 8693)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its own token.</a:t>
            </a:r>
            <a:endParaRPr lang="en-US" sz="1200" dirty="0"/>
          </a:p>
        </p:txBody>
      </p:sp>
      <p:sp>
        <p:nvSpPr>
          <p:cNvPr id="3021" name="result bar 52"/>
          <p:cNvSpPr/>
          <p:nvPr/>
        </p:nvSpPr>
        <p:spPr>
          <a:xfrm>
            <a:off x="457200" y="3767328"/>
            <a:ext cx="8229600" cy="725424"/>
          </a:xfrm>
          <a:prstGeom prst="roundRect">
            <a:avLst>
              <a:gd name="adj" fmla="val 10084"/>
            </a:avLst>
          </a:prstGeom>
          <a:solidFill>
            <a:schemeClr val="accent6"/>
          </a:solidFill>
          <a:ln/>
        </p:spPr>
      </p:sp>
      <p:sp>
        <p:nvSpPr>
          <p:cNvPr id="3022" name="text 53"/>
          <p:cNvSpPr txBox="1"/>
          <p:nvPr/>
        </p:nvSpPr>
        <p:spPr>
          <a:xfrm>
            <a:off x="685800" y="3767328"/>
            <a:ext cx="777240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the child app gets its own DPoP-bound token with no browser, no OTP and no consent</a:t>
            </a:r>
            <a:br/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screen, and nothing the user did not consent to.</a:t>
            </a:r>
            <a:endParaRPr lang="en-US" sz="1300" dirty="0"/>
          </a:p>
        </p:txBody>
      </p:sp>
      <p:sp>
        <p:nvSpPr>
          <p:cNvPr id="30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4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who does what</a:t>
            </a:r>
            <a:endParaRPr lang="en-US" sz="2800" dirty="0"/>
          </a:p>
        </p:txBody>
      </p:sp>
      <p:sp>
        <p:nvSpPr>
          <p:cNvPr id="4003" name="phone group 54"/>
          <p:cNvSpPr/>
          <p:nvPr/>
        </p:nvSpPr>
        <p:spPr>
          <a:xfrm>
            <a:off x="457200" y="1051560"/>
            <a:ext cx="1965960" cy="347472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04" name="server group 55"/>
          <p:cNvSpPr/>
          <p:nvPr/>
        </p:nvSpPr>
        <p:spPr>
          <a:xfrm>
            <a:off x="3017520" y="1051560"/>
            <a:ext cx="566928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05" name="text 56"/>
          <p:cNvSpPr txBox="1"/>
          <p:nvPr/>
        </p:nvSpPr>
        <p:spPr>
          <a:xfrm>
            <a:off x="594360" y="11887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4006" name="text 57"/>
          <p:cNvSpPr txBox="1"/>
          <p:nvPr/>
        </p:nvSpPr>
        <p:spPr>
          <a:xfrm>
            <a:off x="3246120" y="1188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SERVER (GO) + THUNDERID ENGINE</a:t>
            </a:r>
            <a:endParaRPr lang="en-US" sz="1000" dirty="0"/>
          </a:p>
        </p:txBody>
      </p:sp>
      <p:sp>
        <p:nvSpPr>
          <p:cNvPr id="4007" name="box 58"/>
          <p:cNvSpPr/>
          <p:nvPr/>
        </p:nvSpPr>
        <p:spPr>
          <a:xfrm>
            <a:off x="594360" y="150876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/>
        </p:spPr>
      </p:sp>
      <p:sp>
        <p:nvSpPr>
          <p:cNvPr id="4008" name="box text 59"/>
          <p:cNvSpPr txBox="1"/>
          <p:nvPr/>
        </p:nvSpPr>
        <p:spPr>
          <a:xfrm>
            <a:off x="667512" y="1508760"/>
            <a:ext cx="1545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 · holds Key A</a:t>
            </a:r>
            <a:endParaRPr lang="en-US" sz="1200" dirty="0"/>
          </a:p>
        </p:txBody>
      </p:sp>
      <p:sp>
        <p:nvSpPr>
          <p:cNvPr id="4009" name="box 60"/>
          <p:cNvSpPr/>
          <p:nvPr/>
        </p:nvSpPr>
        <p:spPr>
          <a:xfrm>
            <a:off x="594360" y="3520440"/>
            <a:ext cx="16916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/>
        </p:spPr>
      </p:sp>
      <p:sp>
        <p:nvSpPr>
          <p:cNvPr id="4010" name="box text 61"/>
          <p:cNvSpPr txBox="1"/>
          <p:nvPr/>
        </p:nvSpPr>
        <p:spPr>
          <a:xfrm>
            <a:off x="667512" y="3520440"/>
            <a:ext cx="1545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 · no key</a:t>
            </a:r>
            <a:endParaRPr lang="en-US" sz="1200" dirty="0"/>
          </a:p>
        </p:txBody>
      </p:sp>
      <p:sp>
        <p:nvSpPr>
          <p:cNvPr id="4011" name="connector 62"/>
          <p:cNvSpPr/>
          <p:nvPr/>
        </p:nvSpPr>
        <p:spPr>
          <a:xfrm>
            <a:off x="1440180" y="2331720"/>
            <a:ext cx="0" cy="2164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12" name="arrow 63"/>
          <p:cNvSpPr/>
          <p:nvPr/>
        </p:nvSpPr>
        <p:spPr>
          <a:xfrm>
            <a:off x="1440180" y="3304032"/>
            <a:ext cx="0" cy="2164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13" name="text 64"/>
          <p:cNvSpPr txBox="1"/>
          <p:nvPr/>
        </p:nvSpPr>
        <p:spPr>
          <a:xfrm>
            <a:off x="594360" y="2602992"/>
            <a:ext cx="1691640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IPC, same vendor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id_token, device_secret,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proof</a:t>
            </a:r>
            <a:endParaRPr lang="en-US" sz="1000" dirty="0"/>
          </a:p>
        </p:txBody>
      </p:sp>
      <p:sp>
        <p:nvSpPr>
          <p:cNvPr id="4014" name="box 65"/>
          <p:cNvSpPr/>
          <p:nvPr/>
        </p:nvSpPr>
        <p:spPr>
          <a:xfrm>
            <a:off x="3246120" y="1508760"/>
            <a:ext cx="1645920" cy="283464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/>
        </p:spPr>
      </p:sp>
      <p:sp>
        <p:nvSpPr>
          <p:cNvPr id="4015" name="engine text 66"/>
          <p:cNvSpPr txBox="1"/>
          <p:nvPr/>
        </p:nvSpPr>
        <p:spPr>
          <a:xfrm>
            <a:off x="3319272" y="1508760"/>
            <a:ext cx="14996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engine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</a:t>
            </a:r>
            <a:endParaRPr lang="en-US" sz="13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exchange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ds_hash · sid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 = DPoP key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⊆ grant</a:t>
            </a:r>
            <a:endParaRPr lang="en-US" sz="1300" dirty="0"/>
          </a:p>
        </p:txBody>
      </p:sp>
      <p:sp>
        <p:nvSpPr>
          <p:cNvPr id="4016" name="box 67"/>
          <p:cNvSpPr/>
          <p:nvPr/>
        </p:nvSpPr>
        <p:spPr>
          <a:xfrm>
            <a:off x="5760720" y="1508760"/>
            <a:ext cx="269748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</p:sp>
      <p:sp>
        <p:nvSpPr>
          <p:cNvPr id="4017" name="box text 68"/>
          <p:cNvSpPr txBox="1"/>
          <p:nvPr/>
        </p:nvSpPr>
        <p:spPr>
          <a:xfrm>
            <a:off x="5833872" y="1508760"/>
            <a:ext cx="2551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· generate / validate</a:t>
            </a:r>
            <a:endParaRPr lang="en-US" sz="1200" dirty="0"/>
          </a:p>
        </p:txBody>
      </p:sp>
      <p:sp>
        <p:nvSpPr>
          <p:cNvPr id="4018" name="box 69"/>
          <p:cNvSpPr/>
          <p:nvPr/>
        </p:nvSpPr>
        <p:spPr>
          <a:xfrm>
            <a:off x="5760720" y="3520440"/>
            <a:ext cx="123444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/>
        </p:spPr>
      </p:sp>
      <p:sp>
        <p:nvSpPr>
          <p:cNvPr id="4019" name="box text 70"/>
          <p:cNvSpPr txBox="1"/>
          <p:nvPr/>
        </p:nvSpPr>
        <p:spPr>
          <a:xfrm>
            <a:off x="5833872" y="352044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and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keys</a:t>
            </a:r>
            <a:endParaRPr lang="en-US" sz="1200" dirty="0"/>
          </a:p>
        </p:txBody>
      </p:sp>
      <p:sp>
        <p:nvSpPr>
          <p:cNvPr id="4020" name="box 71"/>
          <p:cNvSpPr/>
          <p:nvPr/>
        </p:nvSpPr>
        <p:spPr>
          <a:xfrm>
            <a:off x="7223760" y="3520440"/>
            <a:ext cx="123444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/>
        </p:spPr>
      </p:sp>
      <p:sp>
        <p:nvSpPr>
          <p:cNvPr id="4021" name="box text 72"/>
          <p:cNvSpPr txBox="1"/>
          <p:nvPr/>
        </p:nvSpPr>
        <p:spPr>
          <a:xfrm>
            <a:off x="7296912" y="352044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consent_detail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history</a:t>
            </a:r>
            <a:endParaRPr lang="en-US" sz="1200" dirty="0"/>
          </a:p>
        </p:txBody>
      </p:sp>
      <p:sp>
        <p:nvSpPr>
          <p:cNvPr id="4022" name="arrow 73"/>
          <p:cNvSpPr/>
          <p:nvPr/>
        </p:nvSpPr>
        <p:spPr>
          <a:xfrm>
            <a:off x="2286000" y="1920240"/>
            <a:ext cx="9601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3" name="arrow 74"/>
          <p:cNvSpPr/>
          <p:nvPr/>
        </p:nvSpPr>
        <p:spPr>
          <a:xfrm>
            <a:off x="2286000" y="3931920"/>
            <a:ext cx="9601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4" name="text 75"/>
          <p:cNvSpPr txBox="1"/>
          <p:nvPr/>
        </p:nvSpPr>
        <p:spPr>
          <a:xfrm>
            <a:off x="2331720" y="1524000"/>
            <a:ext cx="7772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000" dirty="0"/>
          </a:p>
        </p:txBody>
      </p:sp>
      <p:sp>
        <p:nvSpPr>
          <p:cNvPr id="4025" name="text 76"/>
          <p:cNvSpPr txBox="1"/>
          <p:nvPr/>
        </p:nvSpPr>
        <p:spPr>
          <a:xfrm>
            <a:off x="2331720" y="3535680"/>
            <a:ext cx="7772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</a:t>
            </a:r>
            <a:endParaRPr lang="en-US" sz="1000" dirty="0"/>
          </a:p>
        </p:txBody>
      </p:sp>
      <p:sp>
        <p:nvSpPr>
          <p:cNvPr id="4026" name="arrow 77"/>
          <p:cNvSpPr/>
          <p:nvPr/>
        </p:nvSpPr>
        <p:spPr>
          <a:xfrm>
            <a:off x="4892040" y="1920240"/>
            <a:ext cx="8686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27" name="text 78"/>
          <p:cNvSpPr txBox="1"/>
          <p:nvPr/>
        </p:nvSpPr>
        <p:spPr>
          <a:xfrm>
            <a:off x="4937760" y="1524000"/>
            <a:ext cx="68580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</a:t>
            </a:r>
            <a:endParaRPr lang="en-US" sz="1000" dirty="0"/>
          </a:p>
        </p:txBody>
      </p:sp>
      <p:sp>
        <p:nvSpPr>
          <p:cNvPr id="4028" name="connector 79"/>
          <p:cNvSpPr/>
          <p:nvPr/>
        </p:nvSpPr>
        <p:spPr>
          <a:xfrm>
            <a:off x="6377940" y="2331720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29" name="arrow 80"/>
          <p:cNvSpPr/>
          <p:nvPr/>
        </p:nvSpPr>
        <p:spPr>
          <a:xfrm>
            <a:off x="6377940" y="3075432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30" name="text 81"/>
          <p:cNvSpPr txBox="1"/>
          <p:nvPr/>
        </p:nvSpPr>
        <p:spPr>
          <a:xfrm>
            <a:off x="5760720" y="2831592"/>
            <a:ext cx="1234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encrypt</a:t>
            </a:r>
            <a:endParaRPr lang="en-US" sz="1000" dirty="0"/>
          </a:p>
        </p:txBody>
      </p:sp>
      <p:sp>
        <p:nvSpPr>
          <p:cNvPr id="4031" name="connector 82"/>
          <p:cNvSpPr/>
          <p:nvPr/>
        </p:nvSpPr>
        <p:spPr>
          <a:xfrm>
            <a:off x="7840980" y="2331720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032" name="arrow 83"/>
          <p:cNvSpPr/>
          <p:nvPr/>
        </p:nvSpPr>
        <p:spPr>
          <a:xfrm>
            <a:off x="7840980" y="3075432"/>
            <a:ext cx="0" cy="44500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33" name="text 84"/>
          <p:cNvSpPr txBox="1"/>
          <p:nvPr/>
        </p:nvSpPr>
        <p:spPr>
          <a:xfrm>
            <a:off x="7223760" y="2831592"/>
            <a:ext cx="123444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consent</a:t>
            </a:r>
            <a:endParaRPr lang="en-US" sz="1000" dirty="0"/>
          </a:p>
        </p:txBody>
      </p:sp>
      <p:sp>
        <p:nvSpPr>
          <p:cNvPr id="40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5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1: super app login with device_sso</a:t>
            </a:r>
            <a:endParaRPr lang="en-US" sz="2800" dirty="0"/>
          </a:p>
        </p:txBody>
      </p:sp>
      <p:sp>
        <p:nvSpPr>
          <p:cNvPr id="5003" name="badge 85"/>
          <p:cNvSpPr/>
          <p:nvPr/>
        </p:nvSpPr>
        <p:spPr>
          <a:xfrm>
            <a:off x="45720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04" name="badge text 86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005" name="text 87"/>
          <p:cNvSpPr txBox="1"/>
          <p:nvPr/>
        </p:nvSpPr>
        <p:spPr>
          <a:xfrm>
            <a:off x="1005840" y="1143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/oauth2/par: scope=openid profile email device_sso,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dpop_jkt = thumbprint(Key A), PKCE, private_key_jwt</a:t>
            </a:r>
            <a:endParaRPr lang="en-US" sz="1200" dirty="0"/>
          </a:p>
        </p:txBody>
      </p:sp>
      <p:sp>
        <p:nvSpPr>
          <p:cNvPr id="5006" name="badge 88"/>
          <p:cNvSpPr/>
          <p:nvPr/>
        </p:nvSpPr>
        <p:spPr>
          <a:xfrm>
            <a:off x="457200" y="16306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07" name="badge text 89"/>
          <p:cNvSpPr txBox="1"/>
          <p:nvPr/>
        </p:nvSpPr>
        <p:spPr>
          <a:xfrm>
            <a:off x="457200" y="163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008" name="text 90"/>
          <p:cNvSpPr txBox="1"/>
          <p:nvPr/>
        </p:nvSpPr>
        <p:spPr>
          <a:xfrm>
            <a:off x="1005840" y="1722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Tab: eSignet OTP login and consent; the user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which claims to release</a:t>
            </a:r>
            <a:endParaRPr lang="en-US" sz="1200" dirty="0"/>
          </a:p>
        </p:txBody>
      </p:sp>
      <p:sp>
        <p:nvSpPr>
          <p:cNvPr id="5009" name="badge 91"/>
          <p:cNvSpPr/>
          <p:nvPr/>
        </p:nvSpPr>
        <p:spPr>
          <a:xfrm>
            <a:off x="457200" y="22098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010" name="badge text 92"/>
          <p:cNvSpPr txBox="1"/>
          <p:nvPr/>
        </p:nvSpPr>
        <p:spPr>
          <a:xfrm>
            <a:off x="457200" y="2209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011" name="text 93"/>
          <p:cNvSpPr txBox="1"/>
          <p:nvPr/>
        </p:nvSpPr>
        <p:spPr>
          <a:xfrm>
            <a:off x="1005840" y="2301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/oauth2/token (authorization_code) with a DPoP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signed by Key A</a:t>
            </a:r>
            <a:endParaRPr lang="en-US" sz="1200" dirty="0"/>
          </a:p>
        </p:txBody>
      </p:sp>
      <p:sp>
        <p:nvSpPr>
          <p:cNvPr id="5012" name="badge 94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13" name="badge text 95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014" name="text 96"/>
          <p:cNvSpPr txBox="1"/>
          <p:nvPr/>
        </p:nvSpPr>
        <p:spPr>
          <a:xfrm>
            <a:off x="1005840" y="2880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Engine: is the client registered for device_sso? Then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GenerateDeviceSecret(sub, sid, scope, claims, cnf.jkt, …)</a:t>
            </a:r>
            <a:endParaRPr lang="en-US" sz="1200" dirty="0"/>
          </a:p>
        </p:txBody>
      </p:sp>
      <p:sp>
        <p:nvSpPr>
          <p:cNvPr id="5015" name="badge 97"/>
          <p:cNvSpPr/>
          <p:nvPr/>
        </p:nvSpPr>
        <p:spPr>
          <a:xfrm>
            <a:off x="457200" y="3368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16" name="badge text 98"/>
          <p:cNvSpPr txBox="1"/>
          <p:nvPr/>
        </p:nvSpPr>
        <p:spPr>
          <a:xfrm>
            <a:off x="457200" y="3368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017" name="text 99"/>
          <p:cNvSpPr txBox="1"/>
          <p:nvPr/>
        </p:nvSpPr>
        <p:spPr>
          <a:xfrm>
            <a:off x="1005840" y="3459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signs the claims and encrypts the JWS to its own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key: an opaque device_secret</a:t>
            </a:r>
            <a:endParaRPr lang="en-US" sz="1200" dirty="0"/>
          </a:p>
        </p:txBody>
      </p:sp>
      <p:sp>
        <p:nvSpPr>
          <p:cNvPr id="5018" name="badge 100"/>
          <p:cNvSpPr/>
          <p:nvPr/>
        </p:nvSpPr>
        <p:spPr>
          <a:xfrm>
            <a:off x="457200" y="39471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19" name="badge text 101"/>
          <p:cNvSpPr txBox="1"/>
          <p:nvPr/>
        </p:nvSpPr>
        <p:spPr>
          <a:xfrm>
            <a:off x="457200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020" name="text 102"/>
          <p:cNvSpPr txBox="1"/>
          <p:nvPr/>
        </p:nvSpPr>
        <p:spPr>
          <a:xfrm>
            <a:off x="1005840" y="4038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access_token (cnf.jkt), id_token (ds_hash, sid)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device_secret, stored encrypted on the phone</a:t>
            </a:r>
            <a:endParaRPr lang="en-US" sz="1200" dirty="0"/>
          </a:p>
        </p:txBody>
      </p:sp>
      <p:sp>
        <p:nvSpPr>
          <p:cNvPr id="5021" name="id_token card 103"/>
          <p:cNvSpPr/>
          <p:nvPr/>
        </p:nvSpPr>
        <p:spPr>
          <a:xfrm>
            <a:off x="5486400" y="1051560"/>
            <a:ext cx="3200400" cy="1591056"/>
          </a:xfrm>
          <a:prstGeom prst="roundRect">
            <a:avLst>
              <a:gd name="adj" fmla="val 4598"/>
            </a:avLst>
          </a:prstGeom>
          <a:solidFill>
            <a:schemeClr val="tx1"/>
          </a:solidFill>
          <a:ln/>
        </p:spPr>
      </p:sp>
      <p:sp>
        <p:nvSpPr>
          <p:cNvPr id="5022" name="text 104"/>
          <p:cNvSpPr txBox="1"/>
          <p:nvPr/>
        </p:nvSpPr>
        <p:spPr>
          <a:xfrm>
            <a:off x="571500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id_token gains</a:t>
            </a:r>
            <a:endParaRPr lang="en-US" sz="1400" dirty="0"/>
          </a:p>
        </p:txBody>
      </p:sp>
      <p:sp>
        <p:nvSpPr>
          <p:cNvPr id="5023" name="id token claims"/>
          <p:cNvSpPr txBox="1"/>
          <p:nvPr/>
        </p:nvSpPr>
        <p:spPr>
          <a:xfrm>
            <a:off x="5715000" y="163677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ds_hash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BASE64URL(SHA-256(device_secret))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value as in the device secret</a:t>
            </a:r>
            <a:endParaRPr lang="en-US" sz="1200" dirty="0"/>
          </a:p>
        </p:txBody>
      </p:sp>
      <p:sp>
        <p:nvSpPr>
          <p:cNvPr id="5024" name="device secret card 105"/>
          <p:cNvSpPr/>
          <p:nvPr/>
        </p:nvSpPr>
        <p:spPr>
          <a:xfrm>
            <a:off x="5486400" y="2916936"/>
            <a:ext cx="3200400" cy="1609344"/>
          </a:xfrm>
          <a:prstGeom prst="roundRect">
            <a:avLst>
              <a:gd name="adj" fmla="val 4545"/>
            </a:avLst>
          </a:prstGeom>
          <a:solidFill>
            <a:schemeClr val="tx1"/>
          </a:solidFill>
          <a:ln/>
        </p:spPr>
      </p:sp>
      <p:sp>
        <p:nvSpPr>
          <p:cNvPr id="5025" name="text 106"/>
          <p:cNvSpPr txBox="1"/>
          <p:nvPr/>
        </p:nvSpPr>
        <p:spPr>
          <a:xfrm>
            <a:off x="5715000" y="3118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device_secret carries</a:t>
            </a:r>
            <a:endParaRPr lang="en-US" sz="1400" dirty="0"/>
          </a:p>
        </p:txBody>
      </p:sp>
      <p:sp>
        <p:nvSpPr>
          <p:cNvPr id="5026" name="claim chip 107"/>
          <p:cNvSpPr/>
          <p:nvPr/>
        </p:nvSpPr>
        <p:spPr>
          <a:xfrm>
            <a:off x="5715000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27" name="text 108"/>
          <p:cNvSpPr txBox="1"/>
          <p:nvPr/>
        </p:nvSpPr>
        <p:spPr>
          <a:xfrm>
            <a:off x="5715000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</a:t>
            </a:r>
            <a:endParaRPr lang="en-US" sz="1100" dirty="0"/>
          </a:p>
        </p:txBody>
      </p:sp>
      <p:sp>
        <p:nvSpPr>
          <p:cNvPr id="5028" name="claim chip 109"/>
          <p:cNvSpPr/>
          <p:nvPr/>
        </p:nvSpPr>
        <p:spPr>
          <a:xfrm>
            <a:off x="6419088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29" name="text 110"/>
          <p:cNvSpPr txBox="1"/>
          <p:nvPr/>
        </p:nvSpPr>
        <p:spPr>
          <a:xfrm>
            <a:off x="6419088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</a:t>
            </a:r>
            <a:endParaRPr lang="en-US" sz="1100" dirty="0"/>
          </a:p>
        </p:txBody>
      </p:sp>
      <p:sp>
        <p:nvSpPr>
          <p:cNvPr id="5030" name="claim chip 111"/>
          <p:cNvSpPr/>
          <p:nvPr/>
        </p:nvSpPr>
        <p:spPr>
          <a:xfrm>
            <a:off x="7123176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1" name="text 112"/>
          <p:cNvSpPr txBox="1"/>
          <p:nvPr/>
        </p:nvSpPr>
        <p:spPr>
          <a:xfrm>
            <a:off x="7123176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auth_id</a:t>
            </a:r>
            <a:endParaRPr lang="en-US" sz="1100" dirty="0"/>
          </a:p>
        </p:txBody>
      </p:sp>
      <p:sp>
        <p:nvSpPr>
          <p:cNvPr id="5032" name="claim chip 113"/>
          <p:cNvSpPr/>
          <p:nvPr/>
        </p:nvSpPr>
        <p:spPr>
          <a:xfrm>
            <a:off x="7827264" y="3470148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3" name="text 114"/>
          <p:cNvSpPr txBox="1"/>
          <p:nvPr/>
        </p:nvSpPr>
        <p:spPr>
          <a:xfrm>
            <a:off x="7827264" y="3470148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</a:t>
            </a:r>
            <a:endParaRPr lang="en-US" sz="1100" dirty="0"/>
          </a:p>
        </p:txBody>
      </p:sp>
      <p:sp>
        <p:nvSpPr>
          <p:cNvPr id="5034" name="claim chip 115"/>
          <p:cNvSpPr/>
          <p:nvPr/>
        </p:nvSpPr>
        <p:spPr>
          <a:xfrm>
            <a:off x="5715000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5" name="text 116"/>
          <p:cNvSpPr txBox="1"/>
          <p:nvPr/>
        </p:nvSpPr>
        <p:spPr>
          <a:xfrm>
            <a:off x="5715000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client_id</a:t>
            </a:r>
            <a:endParaRPr lang="en-US" sz="1100" dirty="0"/>
          </a:p>
        </p:txBody>
      </p:sp>
      <p:sp>
        <p:nvSpPr>
          <p:cNvPr id="5036" name="claim chip 117"/>
          <p:cNvSpPr/>
          <p:nvPr/>
        </p:nvSpPr>
        <p:spPr>
          <a:xfrm>
            <a:off x="6419088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7" name="text 118"/>
          <p:cNvSpPr txBox="1"/>
          <p:nvPr/>
        </p:nvSpPr>
        <p:spPr>
          <a:xfrm>
            <a:off x="6419088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</p:txBody>
      </p:sp>
      <p:sp>
        <p:nvSpPr>
          <p:cNvPr id="5038" name="claim chip 119"/>
          <p:cNvSpPr/>
          <p:nvPr/>
        </p:nvSpPr>
        <p:spPr>
          <a:xfrm>
            <a:off x="7123176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39" name="text 120"/>
          <p:cNvSpPr txBox="1"/>
          <p:nvPr/>
        </p:nvSpPr>
        <p:spPr>
          <a:xfrm>
            <a:off x="7123176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</a:t>
            </a:r>
            <a:endParaRPr lang="en-US" sz="1100" dirty="0"/>
          </a:p>
        </p:txBody>
      </p:sp>
      <p:sp>
        <p:nvSpPr>
          <p:cNvPr id="5040" name="claim chip 121"/>
          <p:cNvSpPr/>
          <p:nvPr/>
        </p:nvSpPr>
        <p:spPr>
          <a:xfrm>
            <a:off x="7827264" y="3799332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1" name="text 122"/>
          <p:cNvSpPr txBox="1"/>
          <p:nvPr/>
        </p:nvSpPr>
        <p:spPr>
          <a:xfrm>
            <a:off x="7827264" y="3799332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100" dirty="0"/>
          </a:p>
        </p:txBody>
      </p:sp>
      <p:sp>
        <p:nvSpPr>
          <p:cNvPr id="5042" name="claim chip 123"/>
          <p:cNvSpPr/>
          <p:nvPr/>
        </p:nvSpPr>
        <p:spPr>
          <a:xfrm>
            <a:off x="5715000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3" name="text 124"/>
          <p:cNvSpPr txBox="1"/>
          <p:nvPr/>
        </p:nvSpPr>
        <p:spPr>
          <a:xfrm>
            <a:off x="5715000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</a:t>
            </a:r>
            <a:endParaRPr lang="en-US" sz="1100" dirty="0"/>
          </a:p>
        </p:txBody>
      </p:sp>
      <p:sp>
        <p:nvSpPr>
          <p:cNvPr id="5044" name="claim chip 125"/>
          <p:cNvSpPr/>
          <p:nvPr/>
        </p:nvSpPr>
        <p:spPr>
          <a:xfrm>
            <a:off x="6419088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5" name="text 126"/>
          <p:cNvSpPr txBox="1"/>
          <p:nvPr/>
        </p:nvSpPr>
        <p:spPr>
          <a:xfrm>
            <a:off x="6419088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iat</a:t>
            </a:r>
            <a:endParaRPr lang="en-US" sz="1100" dirty="0"/>
          </a:p>
        </p:txBody>
      </p:sp>
      <p:sp>
        <p:nvSpPr>
          <p:cNvPr id="5046" name="claim chip 127"/>
          <p:cNvSpPr/>
          <p:nvPr/>
        </p:nvSpPr>
        <p:spPr>
          <a:xfrm>
            <a:off x="7123176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7" name="text 128"/>
          <p:cNvSpPr txBox="1"/>
          <p:nvPr/>
        </p:nvSpPr>
        <p:spPr>
          <a:xfrm>
            <a:off x="7123176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</a:t>
            </a:r>
            <a:endParaRPr lang="en-US" sz="1100" dirty="0"/>
          </a:p>
        </p:txBody>
      </p:sp>
      <p:sp>
        <p:nvSpPr>
          <p:cNvPr id="5048" name="claim chip 129"/>
          <p:cNvSpPr/>
          <p:nvPr/>
        </p:nvSpPr>
        <p:spPr>
          <a:xfrm>
            <a:off x="7827264" y="4128516"/>
            <a:ext cx="630936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049" name="text 130"/>
          <p:cNvSpPr txBox="1"/>
          <p:nvPr/>
        </p:nvSpPr>
        <p:spPr>
          <a:xfrm>
            <a:off x="7827264" y="4128516"/>
            <a:ext cx="630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jti</a:t>
            </a:r>
            <a:endParaRPr lang="en-US" sz="1100" dirty="0"/>
          </a:p>
        </p:txBody>
      </p:sp>
      <p:sp>
        <p:nvSpPr>
          <p:cNvPr id="50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6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 2: child app silent sign-in</a:t>
            </a:r>
            <a:endParaRPr lang="en-US" sz="2800" dirty="0"/>
          </a:p>
        </p:txBody>
      </p:sp>
      <p:sp>
        <p:nvSpPr>
          <p:cNvPr id="6003" name="badge 131"/>
          <p:cNvSpPr/>
          <p:nvPr/>
        </p:nvSpPr>
        <p:spPr>
          <a:xfrm>
            <a:off x="457200" y="10515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004" name="badge text 132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005" name="text 133"/>
          <p:cNvSpPr txBox="1"/>
          <p:nvPr/>
        </p:nvSpPr>
        <p:spPr>
          <a:xfrm>
            <a:off x="1005840" y="1143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a ContentProvider behind a signature-level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permission, the child asks the super app for its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id_token, device_secret and a DPoP proof</a:t>
            </a:r>
            <a:endParaRPr lang="en-US" sz="1200" dirty="0"/>
          </a:p>
        </p:txBody>
      </p:sp>
      <p:sp>
        <p:nvSpPr>
          <p:cNvPr id="6006" name="badge 134"/>
          <p:cNvSpPr/>
          <p:nvPr/>
        </p:nvSpPr>
        <p:spPr>
          <a:xfrm>
            <a:off x="457200" y="1746504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007" name="badge text 135"/>
          <p:cNvSpPr txBox="1"/>
          <p:nvPr/>
        </p:nvSpPr>
        <p:spPr>
          <a:xfrm>
            <a:off x="45720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08" name="text 136"/>
          <p:cNvSpPr txBox="1"/>
          <p:nvPr/>
        </p:nvSpPr>
        <p:spPr>
          <a:xfrm>
            <a:off x="1005840" y="18379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app re-checks the caller's signing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and signs the proof with Key A; the key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leaves the Wallet</a:t>
            </a:r>
            <a:endParaRPr lang="en-US" sz="1200" dirty="0"/>
          </a:p>
        </p:txBody>
      </p:sp>
      <p:sp>
        <p:nvSpPr>
          <p:cNvPr id="6009" name="badge 137"/>
          <p:cNvSpPr/>
          <p:nvPr/>
        </p:nvSpPr>
        <p:spPr>
          <a:xfrm>
            <a:off x="457200" y="244144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010" name="badge text 138"/>
          <p:cNvSpPr txBox="1"/>
          <p:nvPr/>
        </p:nvSpPr>
        <p:spPr>
          <a:xfrm>
            <a:off x="45720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011" name="text 139"/>
          <p:cNvSpPr txBox="1"/>
          <p:nvPr/>
        </p:nvSpPr>
        <p:spPr>
          <a:xfrm>
            <a:off x="1005840" y="2532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/oauth2/token as a token exchange: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subject_token = id_token, actor_token =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device_secret</a:t>
            </a:r>
            <a:endParaRPr lang="en-US" sz="1200" dirty="0"/>
          </a:p>
        </p:txBody>
      </p:sp>
      <p:sp>
        <p:nvSpPr>
          <p:cNvPr id="6012" name="badge 140"/>
          <p:cNvSpPr/>
          <p:nvPr/>
        </p:nvSpPr>
        <p:spPr>
          <a:xfrm>
            <a:off x="457200" y="31363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013" name="badge text 141"/>
          <p:cNvSpPr txBox="1"/>
          <p:nvPr/>
        </p:nvSpPr>
        <p:spPr>
          <a:xfrm>
            <a:off x="457200" y="3136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014" name="text 142"/>
          <p:cNvSpPr txBox="1"/>
          <p:nvPr/>
        </p:nvSpPr>
        <p:spPr>
          <a:xfrm>
            <a:off x="100584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verifies the secret, ds_hash, sid, sub,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cnf.jkt = DPoP key, vendor family, scope ⊆ grant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consent</a:t>
            </a:r>
            <a:endParaRPr lang="en-US" sz="1200" dirty="0"/>
          </a:p>
        </p:txBody>
      </p:sp>
      <p:sp>
        <p:nvSpPr>
          <p:cNvPr id="6015" name="badge 143"/>
          <p:cNvSpPr/>
          <p:nvPr/>
        </p:nvSpPr>
        <p:spPr>
          <a:xfrm>
            <a:off x="457200" y="383133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016" name="badge text 144"/>
          <p:cNvSpPr txBox="1"/>
          <p:nvPr/>
        </p:nvSpPr>
        <p:spPr>
          <a:xfrm>
            <a:off x="45720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6017" name="text 145"/>
          <p:cNvSpPr txBox="1"/>
          <p:nvPr/>
        </p:nvSpPr>
        <p:spPr>
          <a:xfrm>
            <a:off x="1005840" y="3922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 DPoP-bound access_token with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act.sub = super app; userinfo returns the consented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200" dirty="0"/>
          </a:p>
        </p:txBody>
      </p:sp>
      <p:sp>
        <p:nvSpPr>
          <p:cNvPr id="6018" name="phone frame 146"/>
          <p:cNvSpPr/>
          <p:nvPr/>
        </p:nvSpPr>
        <p:spPr>
          <a:xfrm>
            <a:off x="4892040" y="1417320"/>
            <a:ext cx="1891503" cy="2743200"/>
          </a:xfrm>
          <a:prstGeom prst="roundRect">
            <a:avLst>
              <a:gd name="adj" fmla="val 5801"/>
            </a:avLst>
          </a:prstGeom>
          <a:solidFill>
            <a:schemeClr val="tx1"/>
          </a:solidFill>
          <a:ln/>
        </p:spPr>
      </p:sp>
      <p:pic>
        <p:nvPicPr>
          <p:cNvPr id="6019" name="Vendor Health signed in silently" descr="/private/tmp/claude-501/-Users-anurag-MOSIP-hack/658be82f-9963-4882-b3de-0a07f144bfe8/scratchpad/deck/crop/health-signed-in-silent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63040"/>
            <a:ext cx="1800063" cy="2651760"/>
          </a:xfrm>
          <a:prstGeom prst="rect">
            <a:avLst/>
          </a:prstGeom>
        </p:spPr>
      </p:pic>
      <p:sp>
        <p:nvSpPr>
          <p:cNvPr id="6020" name="text 147"/>
          <p:cNvSpPr txBox="1"/>
          <p:nvPr/>
        </p:nvSpPr>
        <p:spPr>
          <a:xfrm>
            <a:off x="7057863" y="1463040"/>
            <a:ext cx="16289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phone</a:t>
            </a:r>
            <a:endParaRPr lang="en-US" sz="1400" dirty="0"/>
          </a:p>
        </p:txBody>
      </p:sp>
      <p:sp>
        <p:nvSpPr>
          <p:cNvPr id="6021" name="text 148"/>
          <p:cNvSpPr txBox="1"/>
          <p:nvPr/>
        </p:nvSpPr>
        <p:spPr>
          <a:xfrm>
            <a:off x="7057863" y="1828800"/>
            <a:ext cx="16289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in silently in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 ms: no browser,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OTP, no consent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screen.</a:t>
            </a:r>
            <a:endParaRPr lang="en-US" sz="1200" dirty="0"/>
          </a:p>
        </p:txBody>
      </p:sp>
      <p:sp>
        <p:nvSpPr>
          <p:cNvPr id="6022" name="token fact 149"/>
          <p:cNvSpPr/>
          <p:nvPr/>
        </p:nvSpPr>
        <p:spPr>
          <a:xfrm>
            <a:off x="7057863" y="2834640"/>
            <a:ext cx="1628937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023" name="text 150"/>
          <p:cNvSpPr txBox="1"/>
          <p:nvPr/>
        </p:nvSpPr>
        <p:spPr>
          <a:xfrm>
            <a:off x="7240743" y="2944368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act.sub</a:t>
            </a:r>
            <a:endParaRPr lang="en-US" sz="1200" dirty="0"/>
          </a:p>
        </p:txBody>
      </p:sp>
      <p:sp>
        <p:nvSpPr>
          <p:cNvPr id="6024" name="text 151"/>
          <p:cNvSpPr txBox="1"/>
          <p:nvPr/>
        </p:nvSpPr>
        <p:spPr>
          <a:xfrm>
            <a:off x="7240743" y="3182112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mosip-super-app</a:t>
            </a:r>
            <a:endParaRPr lang="en-US" sz="1200" dirty="0"/>
          </a:p>
        </p:txBody>
      </p:sp>
      <p:sp>
        <p:nvSpPr>
          <p:cNvPr id="6025" name="token fact 152"/>
          <p:cNvSpPr/>
          <p:nvPr/>
        </p:nvSpPr>
        <p:spPr>
          <a:xfrm>
            <a:off x="7057863" y="3675888"/>
            <a:ext cx="1628937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026" name="text 153"/>
          <p:cNvSpPr txBox="1"/>
          <p:nvPr/>
        </p:nvSpPr>
        <p:spPr>
          <a:xfrm>
            <a:off x="7240743" y="3785616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cnf.jkt</a:t>
            </a:r>
            <a:endParaRPr lang="en-US" sz="1200" dirty="0"/>
          </a:p>
        </p:txBody>
      </p:sp>
      <p:sp>
        <p:nvSpPr>
          <p:cNvPr id="6027" name="text 154"/>
          <p:cNvSpPr txBox="1"/>
          <p:nvPr/>
        </p:nvSpPr>
        <p:spPr>
          <a:xfrm>
            <a:off x="7240743" y="4023360"/>
            <a:ext cx="1263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</a:t>
            </a:r>
            <a:endParaRPr lang="en-US" sz="1200" dirty="0"/>
          </a:p>
        </p:txBody>
      </p:sp>
      <p:sp>
        <p:nvSpPr>
          <p:cNvPr id="60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7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bindings make the hand-off safe</a:t>
            </a:r>
            <a:endParaRPr lang="en-US" sz="2800" dirty="0"/>
          </a:p>
        </p:txBody>
      </p:sp>
      <p:sp>
        <p:nvSpPr>
          <p:cNvPr id="7003" name="card 155"/>
          <p:cNvSpPr/>
          <p:nvPr/>
        </p:nvSpPr>
        <p:spPr>
          <a:xfrm>
            <a:off x="457200" y="105156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04" name="badge 156"/>
          <p:cNvSpPr/>
          <p:nvPr/>
        </p:nvSpPr>
        <p:spPr>
          <a:xfrm>
            <a:off x="68580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005" name="badge text 157"/>
          <p:cNvSpPr txBox="1"/>
          <p:nvPr/>
        </p:nvSpPr>
        <p:spPr>
          <a:xfrm>
            <a:off x="685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006" name="text 158"/>
          <p:cNvSpPr txBox="1"/>
          <p:nvPr/>
        </p:nvSpPr>
        <p:spPr>
          <a:xfrm>
            <a:off x="11887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ds_hash</a:t>
            </a:r>
            <a:endParaRPr lang="en-US" sz="1400" dirty="0"/>
          </a:p>
        </p:txBody>
      </p:sp>
      <p:sp>
        <p:nvSpPr>
          <p:cNvPr id="7007" name="text 159"/>
          <p:cNvSpPr txBox="1"/>
          <p:nvPr/>
        </p:nvSpPr>
        <p:spPr>
          <a:xfrm>
            <a:off x="685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id_token names exactly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device secret. Swap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and the exchange fails.</a:t>
            </a:r>
            <a:endParaRPr lang="en-US" sz="1200" dirty="0"/>
          </a:p>
        </p:txBody>
      </p:sp>
      <p:sp>
        <p:nvSpPr>
          <p:cNvPr id="7008" name="card 160"/>
          <p:cNvSpPr/>
          <p:nvPr/>
        </p:nvSpPr>
        <p:spPr>
          <a:xfrm>
            <a:off x="3291840" y="105156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09" name="badge 161"/>
          <p:cNvSpPr/>
          <p:nvPr/>
        </p:nvSpPr>
        <p:spPr>
          <a:xfrm>
            <a:off x="352044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010" name="badge text 162"/>
          <p:cNvSpPr txBox="1"/>
          <p:nvPr/>
        </p:nvSpPr>
        <p:spPr>
          <a:xfrm>
            <a:off x="352044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7011" name="text 163"/>
          <p:cNvSpPr txBox="1"/>
          <p:nvPr/>
        </p:nvSpPr>
        <p:spPr>
          <a:xfrm>
            <a:off x="40233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</a:t>
            </a:r>
            <a:endParaRPr lang="en-US" sz="1400" dirty="0"/>
          </a:p>
        </p:txBody>
      </p:sp>
      <p:sp>
        <p:nvSpPr>
          <p:cNvPr id="7012" name="text 164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tokens come from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authentication: session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or authorization id.</a:t>
            </a:r>
            <a:endParaRPr lang="en-US" sz="1200" dirty="0"/>
          </a:p>
        </p:txBody>
      </p:sp>
      <p:sp>
        <p:nvSpPr>
          <p:cNvPr id="7013" name="card 165"/>
          <p:cNvSpPr/>
          <p:nvPr/>
        </p:nvSpPr>
        <p:spPr>
          <a:xfrm>
            <a:off x="6126480" y="105156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14" name="badge 166"/>
          <p:cNvSpPr/>
          <p:nvPr/>
        </p:nvSpPr>
        <p:spPr>
          <a:xfrm>
            <a:off x="6355080" y="12801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015" name="badge text 167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016" name="text 168"/>
          <p:cNvSpPr txBox="1"/>
          <p:nvPr/>
        </p:nvSpPr>
        <p:spPr>
          <a:xfrm>
            <a:off x="68580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cnf.jkt</a:t>
            </a:r>
            <a:endParaRPr lang="en-US" sz="1400" dirty="0"/>
          </a:p>
        </p:txBody>
      </p:sp>
      <p:sp>
        <p:nvSpPr>
          <p:cNvPr id="7017" name="text 169"/>
          <p:cNvSpPr txBox="1"/>
          <p:nvPr/>
        </p:nvSpPr>
        <p:spPr>
          <a:xfrm>
            <a:off x="6355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DPoP proof must come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 A; a stolen pair is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useless without it.</a:t>
            </a:r>
            <a:endParaRPr lang="en-US" sz="1200" dirty="0"/>
          </a:p>
        </p:txBody>
      </p:sp>
      <p:sp>
        <p:nvSpPr>
          <p:cNvPr id="7018" name="card 170"/>
          <p:cNvSpPr/>
          <p:nvPr/>
        </p:nvSpPr>
        <p:spPr>
          <a:xfrm>
            <a:off x="457200" y="283464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19" name="badge 171"/>
          <p:cNvSpPr/>
          <p:nvPr/>
        </p:nvSpPr>
        <p:spPr>
          <a:xfrm>
            <a:off x="685800" y="30632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20" name="badge text 172"/>
          <p:cNvSpPr txBox="1"/>
          <p:nvPr/>
        </p:nvSpPr>
        <p:spPr>
          <a:xfrm>
            <a:off x="6858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7021" name="text 173"/>
          <p:cNvSpPr txBox="1"/>
          <p:nvPr/>
        </p:nvSpPr>
        <p:spPr>
          <a:xfrm>
            <a:off x="118872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family</a:t>
            </a:r>
            <a:endParaRPr lang="en-US" sz="1400" dirty="0"/>
          </a:p>
        </p:txBody>
      </p:sp>
      <p:sp>
        <p:nvSpPr>
          <p:cNvPr id="7022" name="text 174"/>
          <p:cNvSpPr txBox="1"/>
          <p:nvPr/>
        </p:nvSpPr>
        <p:spPr>
          <a:xfrm>
            <a:off x="68580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same relying party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an allow-listed sibling;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others get invalid_grant.</a:t>
            </a:r>
            <a:endParaRPr lang="en-US" sz="1200" dirty="0"/>
          </a:p>
        </p:txBody>
      </p:sp>
      <p:sp>
        <p:nvSpPr>
          <p:cNvPr id="7023" name="card 175"/>
          <p:cNvSpPr/>
          <p:nvPr/>
        </p:nvSpPr>
        <p:spPr>
          <a:xfrm>
            <a:off x="3291840" y="283464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24" name="badge 176"/>
          <p:cNvSpPr/>
          <p:nvPr/>
        </p:nvSpPr>
        <p:spPr>
          <a:xfrm>
            <a:off x="3520440" y="30632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25" name="badge text 177"/>
          <p:cNvSpPr txBox="1"/>
          <p:nvPr/>
        </p:nvSpPr>
        <p:spPr>
          <a:xfrm>
            <a:off x="352044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7026" name="text 178"/>
          <p:cNvSpPr txBox="1"/>
          <p:nvPr/>
        </p:nvSpPr>
        <p:spPr>
          <a:xfrm>
            <a:off x="402336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⊆ grant</a:t>
            </a:r>
            <a:endParaRPr lang="en-US" sz="1400" dirty="0"/>
          </a:p>
        </p:txBody>
      </p:sp>
      <p:sp>
        <p:nvSpPr>
          <p:cNvPr id="7027" name="text 179"/>
          <p:cNvSpPr txBox="1"/>
          <p:nvPr/>
        </p:nvSpPr>
        <p:spPr>
          <a:xfrm>
            <a:off x="35204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more than the super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was granted; device_sso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never exchangeable.</a:t>
            </a:r>
            <a:endParaRPr lang="en-US" sz="1200" dirty="0"/>
          </a:p>
        </p:txBody>
      </p:sp>
      <p:sp>
        <p:nvSpPr>
          <p:cNvPr id="7028" name="card 180"/>
          <p:cNvSpPr/>
          <p:nvPr/>
        </p:nvSpPr>
        <p:spPr>
          <a:xfrm>
            <a:off x="6126480" y="283464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29" name="badge 181"/>
          <p:cNvSpPr/>
          <p:nvPr/>
        </p:nvSpPr>
        <p:spPr>
          <a:xfrm>
            <a:off x="6355080" y="30632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30" name="badge text 182"/>
          <p:cNvSpPr txBox="1"/>
          <p:nvPr/>
        </p:nvSpPr>
        <p:spPr>
          <a:xfrm>
            <a:off x="63550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7031" name="text 183"/>
          <p:cNvSpPr txBox="1"/>
          <p:nvPr/>
        </p:nvSpPr>
        <p:spPr>
          <a:xfrm>
            <a:off x="6858000" y="30632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 consent</a:t>
            </a:r>
            <a:endParaRPr lang="en-US" sz="1400" dirty="0"/>
          </a:p>
        </p:txBody>
      </p:sp>
      <p:sp>
        <p:nvSpPr>
          <p:cNvPr id="7032" name="text 184"/>
          <p:cNvSpPr txBox="1"/>
          <p:nvPr/>
        </p:nvSpPr>
        <p:spPr>
          <a:xfrm>
            <a:off x="635508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claims accepted for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app reach the child; the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is refused.</a:t>
            </a:r>
            <a:endParaRPr lang="en-US" sz="1200" dirty="0"/>
          </a:p>
        </p:txBody>
      </p:sp>
      <p:sp>
        <p:nvSpPr>
          <p:cNvPr id="70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8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Bonus: re-consent instead of over-sharing</a:t>
            </a:r>
            <a:endParaRPr lang="en-US" sz="2800" dirty="0"/>
          </a:p>
        </p:txBody>
      </p:sp>
      <p:sp>
        <p:nvSpPr>
          <p:cNvPr id="8003" name="text 185"/>
          <p:cNvSpPr txBox="1"/>
          <p:nvPr/>
        </p:nvSpPr>
        <p:spPr>
          <a:xfrm>
            <a:off x="457200" y="1051560"/>
            <a:ext cx="82296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 app's consent is reused, never widened: eSignet checks the child's requested claims against</a:t>
            </a:r>
            <a:br/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accepted, then derives a consent record (with an audit row) or refuses the silent path.</a:t>
            </a:r>
            <a:endParaRPr lang="en-US" sz="1300" dirty="0"/>
          </a:p>
        </p:txBody>
      </p:sp>
      <p:sp>
        <p:nvSpPr>
          <p:cNvPr id="8004" name="text 186"/>
          <p:cNvSpPr txBox="1"/>
          <p:nvPr/>
        </p:nvSpPr>
        <p:spPr>
          <a:xfrm>
            <a:off x="457200" y="1676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REQUESTS</a:t>
            </a:r>
            <a:endParaRPr lang="en-US" sz="1000" dirty="0"/>
          </a:p>
        </p:txBody>
      </p:sp>
      <p:sp>
        <p:nvSpPr>
          <p:cNvPr id="8005" name="text 187"/>
          <p:cNvSpPr txBox="1"/>
          <p:nvPr/>
        </p:nvSpPr>
        <p:spPr>
          <a:xfrm>
            <a:off x="3108960" y="16764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SUPER-APP CONSENT</a:t>
            </a:r>
            <a:endParaRPr lang="en-US" sz="1000" dirty="0"/>
          </a:p>
        </p:txBody>
      </p:sp>
      <p:sp>
        <p:nvSpPr>
          <p:cNvPr id="8006" name="text 188"/>
          <p:cNvSpPr txBox="1"/>
          <p:nvPr/>
        </p:nvSpPr>
        <p:spPr>
          <a:xfrm>
            <a:off x="5943600" y="1676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ANSWERS</a:t>
            </a:r>
            <a:endParaRPr lang="en-US" sz="1000" dirty="0"/>
          </a:p>
        </p:txBody>
      </p:sp>
      <p:sp>
        <p:nvSpPr>
          <p:cNvPr id="8007" name="box 189"/>
          <p:cNvSpPr/>
          <p:nvPr/>
        </p:nvSpPr>
        <p:spPr>
          <a:xfrm>
            <a:off x="457200" y="1969008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8008" name="box text 190"/>
          <p:cNvSpPr txBox="1"/>
          <p:nvPr/>
        </p:nvSpPr>
        <p:spPr>
          <a:xfrm>
            <a:off x="530352" y="196900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email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requested by the child</a:t>
            </a:r>
            <a:endParaRPr lang="en-US" sz="1200" dirty="0"/>
          </a:p>
        </p:txBody>
      </p:sp>
      <p:sp>
        <p:nvSpPr>
          <p:cNvPr id="8009" name="arrow 191"/>
          <p:cNvSpPr/>
          <p:nvPr/>
        </p:nvSpPr>
        <p:spPr>
          <a:xfrm>
            <a:off x="2651760" y="233476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0" name="box 192"/>
          <p:cNvSpPr/>
          <p:nvPr/>
        </p:nvSpPr>
        <p:spPr>
          <a:xfrm>
            <a:off x="3108960" y="1969008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8011" name="box text 193"/>
          <p:cNvSpPr txBox="1"/>
          <p:nvPr/>
        </p:nvSpPr>
        <p:spPr>
          <a:xfrm>
            <a:off x="3182112" y="1969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was declined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 app's consent</a:t>
            </a:r>
            <a:endParaRPr lang="en-US" sz="1200" dirty="0"/>
          </a:p>
        </p:txBody>
      </p:sp>
      <p:sp>
        <p:nvSpPr>
          <p:cNvPr id="8012" name="arrow 194"/>
          <p:cNvSpPr/>
          <p:nvPr/>
        </p:nvSpPr>
        <p:spPr>
          <a:xfrm>
            <a:off x="5486400" y="233476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3" name="box 195"/>
          <p:cNvSpPr/>
          <p:nvPr/>
        </p:nvSpPr>
        <p:spPr>
          <a:xfrm>
            <a:off x="5943600" y="1969008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8014" name="box text 196"/>
          <p:cNvSpPr txBox="1"/>
          <p:nvPr/>
        </p:nvSpPr>
        <p:spPr>
          <a:xfrm>
            <a:off x="6016752" y="196900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not consented: email</a:t>
            </a:r>
            <a:endParaRPr lang="en-US" sz="1200" dirty="0"/>
          </a:p>
        </p:txBody>
      </p:sp>
      <p:sp>
        <p:nvSpPr>
          <p:cNvPr id="8015" name="box 197"/>
          <p:cNvSpPr/>
          <p:nvPr/>
        </p:nvSpPr>
        <p:spPr>
          <a:xfrm>
            <a:off x="457200" y="2929128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8016" name="box text 198"/>
          <p:cNvSpPr txBox="1"/>
          <p:nvPr/>
        </p:nvSpPr>
        <p:spPr>
          <a:xfrm>
            <a:off x="530352" y="292912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openid profile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requested by the child</a:t>
            </a:r>
            <a:endParaRPr lang="en-US" sz="1200" dirty="0"/>
          </a:p>
        </p:txBody>
      </p:sp>
      <p:sp>
        <p:nvSpPr>
          <p:cNvPr id="8017" name="arrow 199"/>
          <p:cNvSpPr/>
          <p:nvPr/>
        </p:nvSpPr>
        <p:spPr>
          <a:xfrm>
            <a:off x="2651760" y="32948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18" name="box 200"/>
          <p:cNvSpPr/>
          <p:nvPr/>
        </p:nvSpPr>
        <p:spPr>
          <a:xfrm>
            <a:off x="3108960" y="2929128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8019" name="box text 201"/>
          <p:cNvSpPr txBox="1"/>
          <p:nvPr/>
        </p:nvSpPr>
        <p:spPr>
          <a:xfrm>
            <a:off x="3182112" y="292912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was accepted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super app's consent</a:t>
            </a:r>
            <a:endParaRPr lang="en-US" sz="1200" dirty="0"/>
          </a:p>
        </p:txBody>
      </p:sp>
      <p:sp>
        <p:nvSpPr>
          <p:cNvPr id="8020" name="arrow 202"/>
          <p:cNvSpPr/>
          <p:nvPr/>
        </p:nvSpPr>
        <p:spPr>
          <a:xfrm>
            <a:off x="5486400" y="32948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021" name="box 203"/>
          <p:cNvSpPr/>
          <p:nvPr/>
        </p:nvSpPr>
        <p:spPr>
          <a:xfrm>
            <a:off x="5943600" y="2929128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8022" name="box text 204"/>
          <p:cNvSpPr txBox="1"/>
          <p:nvPr/>
        </p:nvSpPr>
        <p:spPr>
          <a:xfrm>
            <a:off x="6016752" y="2929128"/>
            <a:ext cx="259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sign-in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consent recorded + history row</a:t>
            </a:r>
            <a:endParaRPr lang="en-US" sz="1200" dirty="0"/>
          </a:p>
        </p:txBody>
      </p:sp>
      <p:sp>
        <p:nvSpPr>
          <p:cNvPr id="8023" name="fallback bar 205"/>
          <p:cNvSpPr/>
          <p:nvPr/>
        </p:nvSpPr>
        <p:spPr>
          <a:xfrm>
            <a:off x="457200" y="3934968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8024" name="text 206"/>
          <p:cNvSpPr txBox="1"/>
          <p:nvPr/>
        </p:nvSpPr>
        <p:spPr>
          <a:xfrm>
            <a:off x="685800" y="39349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interaction_required or invalid_scope, the child explains why and opens eSignet consent for its own client.</a:t>
            </a:r>
            <a:endParaRPr lang="en-US" sz="1200" dirty="0"/>
          </a:p>
        </p:txBody>
      </p:sp>
      <p:sp>
        <p:nvSpPr>
          <p:cNvPr id="80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9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mandatory task, plus the bonus</a:t>
            </a:r>
            <a:endParaRPr lang="en-US" sz="2800" dirty="0"/>
          </a:p>
        </p:txBody>
      </p:sp>
      <p:sp>
        <p:nvSpPr>
          <p:cNvPr id="9003" name="table header 207"/>
          <p:cNvSpPr/>
          <p:nvPr/>
        </p:nvSpPr>
        <p:spPr>
          <a:xfrm>
            <a:off x="457200" y="1051560"/>
            <a:ext cx="8229600" cy="36576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/>
        </p:spPr>
      </p:sp>
      <p:sp>
        <p:nvSpPr>
          <p:cNvPr id="9004" name="text 208"/>
          <p:cNvSpPr txBox="1"/>
          <p:nvPr/>
        </p:nvSpPr>
        <p:spPr>
          <a:xfrm>
            <a:off x="566928" y="1051560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200" dirty="0"/>
          </a:p>
        </p:txBody>
      </p:sp>
      <p:sp>
        <p:nvSpPr>
          <p:cNvPr id="9005" name="text 209"/>
          <p:cNvSpPr txBox="1"/>
          <p:nvPr/>
        </p:nvSpPr>
        <p:spPr>
          <a:xfrm>
            <a:off x="1344168" y="105156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200" dirty="0"/>
          </a:p>
        </p:txBody>
      </p:sp>
      <p:sp>
        <p:nvSpPr>
          <p:cNvPr id="9006" name="text 210"/>
          <p:cNvSpPr txBox="1"/>
          <p:nvPr/>
        </p:nvSpPr>
        <p:spPr>
          <a:xfrm>
            <a:off x="5184648" y="105156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200" dirty="0"/>
          </a:p>
        </p:txBody>
      </p:sp>
      <p:sp>
        <p:nvSpPr>
          <p:cNvPr id="9007" name="text 211"/>
          <p:cNvSpPr txBox="1"/>
          <p:nvPr/>
        </p:nvSpPr>
        <p:spPr>
          <a:xfrm>
            <a:off x="8019288" y="1051560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200" dirty="0"/>
          </a:p>
        </p:txBody>
      </p:sp>
      <p:sp>
        <p:nvSpPr>
          <p:cNvPr id="9008" name="text 212"/>
          <p:cNvSpPr txBox="1"/>
          <p:nvPr/>
        </p:nvSpPr>
        <p:spPr>
          <a:xfrm>
            <a:off x="512064" y="141732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009" name="text 213"/>
          <p:cNvSpPr txBox="1"/>
          <p:nvPr/>
        </p:nvSpPr>
        <p:spPr>
          <a:xfrm>
            <a:off x="1344168" y="141732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device_sso scope on the authorize request</a:t>
            </a:r>
            <a:endParaRPr lang="en-US" sz="1200" dirty="0"/>
          </a:p>
        </p:txBody>
      </p:sp>
      <p:sp>
        <p:nvSpPr>
          <p:cNvPr id="9010" name="text 214"/>
          <p:cNvSpPr txBox="1"/>
          <p:nvPr/>
        </p:nvSpPr>
        <p:spPr>
          <a:xfrm>
            <a:off x="5184648" y="14173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eSignet config · ThunderID scope</a:t>
            </a:r>
            <a:endParaRPr lang="en-US" sz="1200" dirty="0"/>
          </a:p>
        </p:txBody>
      </p:sp>
      <p:sp>
        <p:nvSpPr>
          <p:cNvPr id="9011" name="done pill 215"/>
          <p:cNvSpPr/>
          <p:nvPr/>
        </p:nvSpPr>
        <p:spPr>
          <a:xfrm>
            <a:off x="8014716" y="149047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12" name="text 216"/>
          <p:cNvSpPr txBox="1"/>
          <p:nvPr/>
        </p:nvSpPr>
        <p:spPr>
          <a:xfrm>
            <a:off x="8014716" y="14904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13" name="table row 217"/>
          <p:cNvSpPr/>
          <p:nvPr/>
        </p:nvSpPr>
        <p:spPr>
          <a:xfrm>
            <a:off x="457200" y="178308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14" name="text 218"/>
          <p:cNvSpPr txBox="1"/>
          <p:nvPr/>
        </p:nvSpPr>
        <p:spPr>
          <a:xfrm>
            <a:off x="512064" y="178308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15" name="text 219"/>
          <p:cNvSpPr txBox="1"/>
          <p:nvPr/>
        </p:nvSpPr>
        <p:spPr>
          <a:xfrm>
            <a:off x="1344168" y="1783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endpoint validates the scope for the client</a:t>
            </a:r>
            <a:endParaRPr lang="en-US" sz="1200" dirty="0"/>
          </a:p>
        </p:txBody>
      </p:sp>
      <p:sp>
        <p:nvSpPr>
          <p:cNvPr id="9016" name="text 220"/>
          <p:cNvSpPr txBox="1"/>
          <p:nvPr/>
        </p:nvSpPr>
        <p:spPr>
          <a:xfrm>
            <a:off x="5184648" y="178308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auth-code grant</a:t>
            </a:r>
            <a:endParaRPr lang="en-US" sz="1200" dirty="0"/>
          </a:p>
        </p:txBody>
      </p:sp>
      <p:sp>
        <p:nvSpPr>
          <p:cNvPr id="9017" name="done pill 221"/>
          <p:cNvSpPr/>
          <p:nvPr/>
        </p:nvSpPr>
        <p:spPr>
          <a:xfrm>
            <a:off x="8014716" y="185623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18" name="text 222"/>
          <p:cNvSpPr txBox="1"/>
          <p:nvPr/>
        </p:nvSpPr>
        <p:spPr>
          <a:xfrm>
            <a:off x="8014716" y="18562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19" name="text 223"/>
          <p:cNvSpPr txBox="1"/>
          <p:nvPr/>
        </p:nvSpPr>
        <p:spPr>
          <a:xfrm>
            <a:off x="512064" y="214884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9020" name="text 224"/>
          <p:cNvSpPr txBox="1"/>
          <p:nvPr/>
        </p:nvSpPr>
        <p:spPr>
          <a:xfrm>
            <a:off x="1344168" y="214884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DeviceSecretProvider: generate and validate</a:t>
            </a:r>
            <a:endParaRPr lang="en-US" sz="1200" dirty="0"/>
          </a:p>
        </p:txBody>
      </p:sp>
      <p:sp>
        <p:nvSpPr>
          <p:cNvPr id="9021" name="text 225"/>
          <p:cNvSpPr txBox="1"/>
          <p:nvPr/>
        </p:nvSpPr>
        <p:spPr>
          <a:xfrm>
            <a:off x="5184648" y="214884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+ eSignet keymanager</a:t>
            </a:r>
            <a:endParaRPr lang="en-US" sz="1200" dirty="0"/>
          </a:p>
        </p:txBody>
      </p:sp>
      <p:sp>
        <p:nvSpPr>
          <p:cNvPr id="9022" name="done pill 226"/>
          <p:cNvSpPr/>
          <p:nvPr/>
        </p:nvSpPr>
        <p:spPr>
          <a:xfrm>
            <a:off x="8014716" y="222199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23" name="text 227"/>
          <p:cNvSpPr txBox="1"/>
          <p:nvPr/>
        </p:nvSpPr>
        <p:spPr>
          <a:xfrm>
            <a:off x="8014716" y="22219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24" name="table row 228"/>
          <p:cNvSpPr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25" name="text 229"/>
          <p:cNvSpPr txBox="1"/>
          <p:nvPr/>
        </p:nvSpPr>
        <p:spPr>
          <a:xfrm>
            <a:off x="512064" y="251460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9026" name="text 230"/>
          <p:cNvSpPr txBox="1"/>
          <p:nvPr/>
        </p:nvSpPr>
        <p:spPr>
          <a:xfrm>
            <a:off x="1344168" y="2514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endpoint issues and returns the secret</a:t>
            </a:r>
            <a:endParaRPr lang="en-US" sz="1200" dirty="0"/>
          </a:p>
        </p:txBody>
      </p:sp>
      <p:sp>
        <p:nvSpPr>
          <p:cNvPr id="9027" name="text 231"/>
          <p:cNvSpPr txBox="1"/>
          <p:nvPr/>
        </p:nvSpPr>
        <p:spPr>
          <a:xfrm>
            <a:off x="5184648" y="251460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auth-code grant</a:t>
            </a:r>
            <a:endParaRPr lang="en-US" sz="1200" dirty="0"/>
          </a:p>
        </p:txBody>
      </p:sp>
      <p:sp>
        <p:nvSpPr>
          <p:cNvPr id="9028" name="done pill 232"/>
          <p:cNvSpPr/>
          <p:nvPr/>
        </p:nvSpPr>
        <p:spPr>
          <a:xfrm>
            <a:off x="8014716" y="258775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29" name="text 233"/>
          <p:cNvSpPr txBox="1"/>
          <p:nvPr/>
        </p:nvSpPr>
        <p:spPr>
          <a:xfrm>
            <a:off x="8014716" y="258775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30" name="text 234"/>
          <p:cNvSpPr txBox="1"/>
          <p:nvPr/>
        </p:nvSpPr>
        <p:spPr>
          <a:xfrm>
            <a:off x="512064" y="288036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9031" name="text 235"/>
          <p:cNvSpPr txBox="1"/>
          <p:nvPr/>
        </p:nvSpPr>
        <p:spPr>
          <a:xfrm>
            <a:off x="1344168" y="288036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app: IPC fetch, exchange with Key A proof</a:t>
            </a:r>
            <a:endParaRPr lang="en-US" sz="1200" dirty="0"/>
          </a:p>
        </p:txBody>
      </p:sp>
      <p:sp>
        <p:nvSpPr>
          <p:cNvPr id="9032" name="text 236"/>
          <p:cNvSpPr txBox="1"/>
          <p:nvPr/>
        </p:nvSpPr>
        <p:spPr>
          <a:xfrm>
            <a:off x="5184648" y="288036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SDK + apps</a:t>
            </a:r>
            <a:endParaRPr lang="en-US" sz="1200" dirty="0"/>
          </a:p>
        </p:txBody>
      </p:sp>
      <p:sp>
        <p:nvSpPr>
          <p:cNvPr id="9033" name="done pill 237"/>
          <p:cNvSpPr/>
          <p:nvPr/>
        </p:nvSpPr>
        <p:spPr>
          <a:xfrm>
            <a:off x="8014716" y="295351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34" name="text 238"/>
          <p:cNvSpPr txBox="1"/>
          <p:nvPr/>
        </p:nvSpPr>
        <p:spPr>
          <a:xfrm>
            <a:off x="8014716" y="295351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35" name="table row 239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36" name="text 240"/>
          <p:cNvSpPr txBox="1"/>
          <p:nvPr/>
        </p:nvSpPr>
        <p:spPr>
          <a:xfrm>
            <a:off x="512064" y="324612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037" name="text 241"/>
          <p:cNvSpPr txBox="1"/>
          <p:nvPr/>
        </p:nvSpPr>
        <p:spPr>
          <a:xfrm>
            <a:off x="1344168" y="324612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checks ds_hash, sid, client, cnf.jkt</a:t>
            </a:r>
            <a:endParaRPr lang="en-US" sz="1200" dirty="0"/>
          </a:p>
        </p:txBody>
      </p:sp>
      <p:sp>
        <p:nvSpPr>
          <p:cNvPr id="9038" name="text 242"/>
          <p:cNvSpPr txBox="1"/>
          <p:nvPr/>
        </p:nvSpPr>
        <p:spPr>
          <a:xfrm>
            <a:off x="5184648" y="32461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token exchange</a:t>
            </a:r>
            <a:endParaRPr lang="en-US" sz="1200" dirty="0"/>
          </a:p>
        </p:txBody>
      </p:sp>
      <p:sp>
        <p:nvSpPr>
          <p:cNvPr id="9039" name="done pill 243"/>
          <p:cNvSpPr/>
          <p:nvPr/>
        </p:nvSpPr>
        <p:spPr>
          <a:xfrm>
            <a:off x="8014716" y="331927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40" name="text 244"/>
          <p:cNvSpPr txBox="1"/>
          <p:nvPr/>
        </p:nvSpPr>
        <p:spPr>
          <a:xfrm>
            <a:off x="8014716" y="3319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41" name="text 245"/>
          <p:cNvSpPr txBox="1"/>
          <p:nvPr/>
        </p:nvSpPr>
        <p:spPr>
          <a:xfrm>
            <a:off x="512064" y="361188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10a/b</a:t>
            </a:r>
            <a:endParaRPr lang="en-US" sz="1200" dirty="0"/>
          </a:p>
        </p:txBody>
      </p:sp>
      <p:sp>
        <p:nvSpPr>
          <p:cNvPr id="9042" name="text 246"/>
          <p:cNvSpPr txBox="1"/>
          <p:nvPr/>
        </p:nvSpPr>
        <p:spPr>
          <a:xfrm>
            <a:off x="1344168" y="36118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 scope ⊆ super scope; device_sso refused</a:t>
            </a:r>
            <a:endParaRPr lang="en-US" sz="1200" dirty="0"/>
          </a:p>
        </p:txBody>
      </p:sp>
      <p:sp>
        <p:nvSpPr>
          <p:cNvPr id="9043" name="text 247"/>
          <p:cNvSpPr txBox="1"/>
          <p:nvPr/>
        </p:nvSpPr>
        <p:spPr>
          <a:xfrm>
            <a:off x="5184648" y="361188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</a:t>
            </a:r>
            <a:endParaRPr lang="en-US" sz="1200" dirty="0"/>
          </a:p>
        </p:txBody>
      </p:sp>
      <p:sp>
        <p:nvSpPr>
          <p:cNvPr id="9044" name="done pill 248"/>
          <p:cNvSpPr/>
          <p:nvPr/>
        </p:nvSpPr>
        <p:spPr>
          <a:xfrm>
            <a:off x="8014716" y="368503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45" name="text 249"/>
          <p:cNvSpPr txBox="1"/>
          <p:nvPr/>
        </p:nvSpPr>
        <p:spPr>
          <a:xfrm>
            <a:off x="8014716" y="368503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46" name="table row 250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047" name="text 251"/>
          <p:cNvSpPr txBox="1"/>
          <p:nvPr/>
        </p:nvSpPr>
        <p:spPr>
          <a:xfrm>
            <a:off x="512064" y="3977640"/>
            <a:ext cx="66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200" dirty="0"/>
          </a:p>
        </p:txBody>
      </p:sp>
      <p:sp>
        <p:nvSpPr>
          <p:cNvPr id="9048" name="text 252"/>
          <p:cNvSpPr txBox="1"/>
          <p:nvPr/>
        </p:nvSpPr>
        <p:spPr>
          <a:xfrm>
            <a:off x="1344168" y="397764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Re-consent in the child app</a:t>
            </a:r>
            <a:endParaRPr lang="en-US" sz="1200" dirty="0"/>
          </a:p>
        </p:txBody>
      </p:sp>
      <p:sp>
        <p:nvSpPr>
          <p:cNvPr id="9049" name="text 253"/>
          <p:cNvSpPr txBox="1"/>
          <p:nvPr/>
        </p:nvSpPr>
        <p:spPr>
          <a:xfrm>
            <a:off x="5184648" y="397764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ThunderID, eSignet, apps</a:t>
            </a:r>
            <a:endParaRPr lang="en-US" sz="1200" dirty="0"/>
          </a:p>
        </p:txBody>
      </p:sp>
      <p:sp>
        <p:nvSpPr>
          <p:cNvPr id="9050" name="done pill 254"/>
          <p:cNvSpPr/>
          <p:nvPr/>
        </p:nvSpPr>
        <p:spPr>
          <a:xfrm>
            <a:off x="8014716" y="4050792"/>
            <a:ext cx="566928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051" name="text 255"/>
          <p:cNvSpPr txBox="1"/>
          <p:nvPr/>
        </p:nvSpPr>
        <p:spPr>
          <a:xfrm>
            <a:off x="8014716" y="40507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00" dirty="0"/>
          </a:p>
        </p:txBody>
      </p:sp>
      <p:sp>
        <p:nvSpPr>
          <p:cNvPr id="90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0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 and how we proved it</a:t>
            </a:r>
            <a:endParaRPr lang="en-US" sz="2800" dirty="0"/>
          </a:p>
        </p:txBody>
      </p:sp>
      <p:sp>
        <p:nvSpPr>
          <p:cNvPr id="10003" name="card 256"/>
          <p:cNvSpPr/>
          <p:nvPr/>
        </p:nvSpPr>
        <p:spPr>
          <a:xfrm>
            <a:off x="457200" y="1051560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04" name="text 257"/>
          <p:cNvSpPr txBox="1"/>
          <p:nvPr/>
        </p:nvSpPr>
        <p:spPr>
          <a:xfrm>
            <a:off x="685800" y="1051560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0005" name="text 258"/>
          <p:cNvSpPr txBox="1"/>
          <p:nvPr/>
        </p:nvSpPr>
        <p:spPr>
          <a:xfrm>
            <a:off x="2148840" y="1252728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pull requests</a:t>
            </a:r>
            <a:endParaRPr lang="en-US" sz="1300" dirty="0"/>
          </a:p>
        </p:txBody>
      </p:sp>
      <p:sp>
        <p:nvSpPr>
          <p:cNvPr id="10006" name="text 259"/>
          <p:cNvSpPr txBox="1"/>
          <p:nvPr/>
        </p:nvSpPr>
        <p:spPr>
          <a:xfrm>
            <a:off x="2148840" y="1524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thunder-id/thunderid and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mosip/esignet (develop-go)</a:t>
            </a:r>
            <a:endParaRPr lang="en-US" sz="1200" dirty="0"/>
          </a:p>
        </p:txBody>
      </p:sp>
      <p:sp>
        <p:nvSpPr>
          <p:cNvPr id="10007" name="card 260"/>
          <p:cNvSpPr/>
          <p:nvPr/>
        </p:nvSpPr>
        <p:spPr>
          <a:xfrm>
            <a:off x="4709160" y="1051560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08" name="text 261"/>
          <p:cNvSpPr txBox="1"/>
          <p:nvPr/>
        </p:nvSpPr>
        <p:spPr>
          <a:xfrm>
            <a:off x="4937760" y="1051560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</a:t>
            </a:r>
            <a:endParaRPr lang="en-US" sz="3600" dirty="0"/>
          </a:p>
        </p:txBody>
      </p:sp>
      <p:sp>
        <p:nvSpPr>
          <p:cNvPr id="10009" name="text 262"/>
          <p:cNvSpPr txBox="1"/>
          <p:nvPr/>
        </p:nvSpPr>
        <p:spPr>
          <a:xfrm>
            <a:off x="6400800" y="1252728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checks</a:t>
            </a:r>
            <a:endParaRPr lang="en-US" sz="1300" dirty="0"/>
          </a:p>
        </p:txBody>
      </p:sp>
      <p:sp>
        <p:nvSpPr>
          <p:cNvPr id="10010" name="text 263"/>
          <p:cNvSpPr txBox="1"/>
          <p:nvPr/>
        </p:nvSpPr>
        <p:spPr>
          <a:xfrm>
            <a:off x="6400800" y="1524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live eSignet,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cases included</a:t>
            </a:r>
            <a:endParaRPr lang="en-US" sz="1200" dirty="0"/>
          </a:p>
        </p:txBody>
      </p:sp>
      <p:sp>
        <p:nvSpPr>
          <p:cNvPr id="10011" name="card 264"/>
          <p:cNvSpPr/>
          <p:nvPr/>
        </p:nvSpPr>
        <p:spPr>
          <a:xfrm>
            <a:off x="457200" y="2365248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12" name="text 265"/>
          <p:cNvSpPr txBox="1"/>
          <p:nvPr/>
        </p:nvSpPr>
        <p:spPr>
          <a:xfrm>
            <a:off x="685800" y="2365248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600" dirty="0"/>
          </a:p>
        </p:txBody>
      </p:sp>
      <p:sp>
        <p:nvSpPr>
          <p:cNvPr id="10013" name="text 266"/>
          <p:cNvSpPr txBox="1"/>
          <p:nvPr/>
        </p:nvSpPr>
        <p:spPr>
          <a:xfrm>
            <a:off x="2148840" y="2566416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unit tests</a:t>
            </a:r>
            <a:endParaRPr lang="en-US" sz="1300" dirty="0"/>
          </a:p>
        </p:txBody>
      </p:sp>
      <p:sp>
        <p:nvSpPr>
          <p:cNvPr id="10014" name="text 267"/>
          <p:cNvSpPr txBox="1"/>
          <p:nvPr/>
        </p:nvSpPr>
        <p:spPr>
          <a:xfrm>
            <a:off x="2148840" y="28376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ThunderID engine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eSignet provider</a:t>
            </a:r>
            <a:endParaRPr lang="en-US" sz="1200" dirty="0"/>
          </a:p>
        </p:txBody>
      </p:sp>
      <p:sp>
        <p:nvSpPr>
          <p:cNvPr id="10015" name="card 268"/>
          <p:cNvSpPr/>
          <p:nvPr/>
        </p:nvSpPr>
        <p:spPr>
          <a:xfrm>
            <a:off x="4709160" y="2365248"/>
            <a:ext cx="3977640" cy="1039368"/>
          </a:xfrm>
          <a:prstGeom prst="roundRect">
            <a:avLst>
              <a:gd name="adj" fmla="val 703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016" name="text 269"/>
          <p:cNvSpPr txBox="1"/>
          <p:nvPr/>
        </p:nvSpPr>
        <p:spPr>
          <a:xfrm>
            <a:off x="4937760" y="2365248"/>
            <a:ext cx="11887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0017" name="text 270"/>
          <p:cNvSpPr txBox="1"/>
          <p:nvPr/>
        </p:nvSpPr>
        <p:spPr>
          <a:xfrm>
            <a:off x="6400800" y="2566416"/>
            <a:ext cx="2057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Android modules</a:t>
            </a:r>
            <a:endParaRPr lang="en-US" sz="1300" dirty="0"/>
          </a:p>
        </p:txBody>
      </p:sp>
      <p:sp>
        <p:nvSpPr>
          <p:cNvPr id="10018" name="text 271"/>
          <p:cNvSpPr txBox="1"/>
          <p:nvPr/>
        </p:nvSpPr>
        <p:spPr>
          <a:xfrm>
            <a:off x="6400800" y="283768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nativesso-sdk, Vendor Wallet</a:t>
            </a:r>
            <a:br/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Vendor Health</a:t>
            </a:r>
            <a:endParaRPr lang="en-US" sz="1200" dirty="0"/>
          </a:p>
        </p:txBody>
      </p:sp>
      <p:sp>
        <p:nvSpPr>
          <p:cNvPr id="10019" name="also bar 272"/>
          <p:cNvSpPr/>
          <p:nvPr/>
        </p:nvSpPr>
        <p:spPr>
          <a:xfrm>
            <a:off x="457200" y="3678936"/>
            <a:ext cx="8229600" cy="676656"/>
          </a:xfrm>
          <a:prstGeom prst="roundRect">
            <a:avLst>
              <a:gd name="adj" fmla="val 10811"/>
            </a:avLst>
          </a:prstGeom>
          <a:solidFill>
            <a:schemeClr val="accent6"/>
          </a:solidFill>
          <a:ln/>
        </p:spPr>
      </p:sp>
      <p:sp>
        <p:nvSpPr>
          <p:cNvPr id="10020" name="text 273"/>
          <p:cNvSpPr txBox="1"/>
          <p:nvPr/>
        </p:nvSpPr>
        <p:spPr>
          <a:xfrm>
            <a:off x="685800" y="3678936"/>
            <a:ext cx="7772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delivered: Postman collection (20 requests), design and API documentation, OpenAPI update,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reference, one-command docker compose stack and the demo video.</a:t>
            </a:r>
            <a:endParaRPr lang="en-US" sz="1200" dirty="0"/>
          </a:p>
        </p:txBody>
      </p:sp>
      <p:sp>
        <p:nvSpPr>
          <p:cNvPr id="100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apps and SDK for relying parties</a:t>
            </a:r>
            <a:endParaRPr lang="en-US" sz="2800" dirty="0"/>
          </a:p>
        </p:txBody>
      </p:sp>
      <p:sp>
        <p:nvSpPr>
          <p:cNvPr id="11003" name="phone frame 274"/>
          <p:cNvSpPr/>
          <p:nvPr/>
        </p:nvSpPr>
        <p:spPr>
          <a:xfrm>
            <a:off x="457200" y="1371600"/>
            <a:ext cx="1822975" cy="2834640"/>
          </a:xfrm>
          <a:prstGeom prst="roundRect">
            <a:avLst>
              <a:gd name="adj" fmla="val 6019"/>
            </a:avLst>
          </a:prstGeom>
          <a:solidFill>
            <a:schemeClr val="tx1"/>
          </a:solidFill>
          <a:ln/>
        </p:spPr>
      </p:sp>
      <p:pic>
        <p:nvPicPr>
          <p:cNvPr id="11004" name="Vendor Wallet signed in" descr="/private/tmp/claude-501/-Users-anurag-MOSIP-hack/658be82f-9963-4882-b3de-0a07f144bfe8/scratchpad/deck/crop/wallet-signed-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731535" cy="2743200"/>
          </a:xfrm>
          <a:prstGeom prst="rect">
            <a:avLst/>
          </a:prstGeom>
        </p:spPr>
      </p:pic>
      <p:sp>
        <p:nvSpPr>
          <p:cNvPr id="11005" name="phone frame 275"/>
          <p:cNvSpPr/>
          <p:nvPr/>
        </p:nvSpPr>
        <p:spPr>
          <a:xfrm>
            <a:off x="2463055" y="1371600"/>
            <a:ext cx="1953575" cy="2834640"/>
          </a:xfrm>
          <a:prstGeom prst="roundRect">
            <a:avLst>
              <a:gd name="adj" fmla="val 5617"/>
            </a:avLst>
          </a:prstGeom>
          <a:solidFill>
            <a:schemeClr val="tx1"/>
          </a:solidFill>
          <a:ln/>
        </p:spPr>
      </p:sp>
      <p:pic>
        <p:nvPicPr>
          <p:cNvPr id="11006" name="Vendor Health signed in silently" descr="/private/tmp/claude-501/-Users-anurag-MOSIP-hack/658be82f-9963-4882-b3de-0a07f144bfe8/scratchpad/deck/crop/health-signed-in-silent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775" y="1417320"/>
            <a:ext cx="1862135" cy="2743200"/>
          </a:xfrm>
          <a:prstGeom prst="rect">
            <a:avLst/>
          </a:prstGeom>
        </p:spPr>
      </p:pic>
      <p:sp>
        <p:nvSpPr>
          <p:cNvPr id="11007" name="marker 276"/>
          <p:cNvSpPr/>
          <p:nvPr/>
        </p:nvSpPr>
        <p:spPr>
          <a:xfrm>
            <a:off x="4782389" y="1353312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08" name="list item 277"/>
          <p:cNvSpPr txBox="1"/>
          <p:nvPr/>
        </p:nvSpPr>
        <p:spPr>
          <a:xfrm>
            <a:off x="5010989" y="1307592"/>
            <a:ext cx="36758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nativesso-sdk: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/ PKCE / DPoP client, Key A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Android Keystore (StrongBox preferred),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PS256 private_key_jwt, ID-token verification,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session store, IPC contract</a:t>
            </a:r>
            <a:endParaRPr lang="en-US" sz="1200" dirty="0"/>
          </a:p>
        </p:txBody>
      </p:sp>
      <p:sp>
        <p:nvSpPr>
          <p:cNvPr id="11009" name="marker 278"/>
          <p:cNvSpPr/>
          <p:nvPr/>
        </p:nvSpPr>
        <p:spPr>
          <a:xfrm>
            <a:off x="4782389" y="223113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0" name="list item 279"/>
          <p:cNvSpPr txBox="1"/>
          <p:nvPr/>
        </p:nvSpPr>
        <p:spPr>
          <a:xfrm>
            <a:off x="5010989" y="2185416"/>
            <a:ext cx="367581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Wallet: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a ContentProvider behind a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signature-level permission and re-checks the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caller's certificate on every call</a:t>
            </a:r>
            <a:endParaRPr lang="en-US" sz="1200" dirty="0"/>
          </a:p>
        </p:txBody>
      </p:sp>
      <p:sp>
        <p:nvSpPr>
          <p:cNvPr id="11011" name="marker 280"/>
          <p:cNvSpPr/>
          <p:nvPr/>
        </p:nvSpPr>
        <p:spPr>
          <a:xfrm>
            <a:off x="4782389" y="292608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2" name="list item 281"/>
          <p:cNvSpPr txBox="1"/>
          <p:nvPr/>
        </p:nvSpPr>
        <p:spPr>
          <a:xfrm>
            <a:off x="5010989" y="2880360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Health: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holds a key; the Wallet signs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DPoP proofs, so its token is bound to Key A</a:t>
            </a:r>
            <a:endParaRPr lang="en-US" sz="1200" dirty="0"/>
          </a:p>
        </p:txBody>
      </p:sp>
      <p:sp>
        <p:nvSpPr>
          <p:cNvPr id="11013" name="marker 282"/>
          <p:cNvSpPr/>
          <p:nvPr/>
        </p:nvSpPr>
        <p:spPr>
          <a:xfrm>
            <a:off x="4782389" y="3438144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4" name="list item 283"/>
          <p:cNvSpPr txBox="1"/>
          <p:nvPr/>
        </p:nvSpPr>
        <p:spPr>
          <a:xfrm>
            <a:off x="5010989" y="3392424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details: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sid, ds_hash, SHA-256 of the stored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secret, act.sub and cnf.jkt shown on screen</a:t>
            </a:r>
            <a:endParaRPr lang="en-US" sz="1200" dirty="0"/>
          </a:p>
        </p:txBody>
      </p:sp>
      <p:sp>
        <p:nvSpPr>
          <p:cNvPr id="11015" name="marker 284"/>
          <p:cNvSpPr/>
          <p:nvPr/>
        </p:nvSpPr>
        <p:spPr>
          <a:xfrm>
            <a:off x="4782389" y="39502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016" name="list item 285"/>
          <p:cNvSpPr txBox="1"/>
          <p:nvPr/>
        </p:nvSpPr>
        <p:spPr>
          <a:xfrm>
            <a:off x="5010989" y="3904488"/>
            <a:ext cx="36758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consent when eSignet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interaction_required or invalid_scope</a:t>
            </a:r>
            <a:endParaRPr lang="en-US" sz="1200" dirty="0"/>
          </a:p>
        </p:txBody>
      </p:sp>
      <p:sp>
        <p:nvSpPr>
          <p:cNvPr id="110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2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2" name="Text 0"/>
          <p:cNvSpPr/>
          <p:nvPr>
            <p:ph idx="100" type="title" hasCustomPrompt="1"/>
          </p:nvPr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path and what comes next</a:t>
            </a:r>
            <a:endParaRPr lang="en-US" sz="2800" dirty="0"/>
          </a:p>
        </p:txBody>
      </p:sp>
      <p:sp>
        <p:nvSpPr>
          <p:cNvPr id="12003" name="card 286"/>
          <p:cNvSpPr/>
          <p:nvPr/>
        </p:nvSpPr>
        <p:spPr>
          <a:xfrm>
            <a:off x="457200" y="1051560"/>
            <a:ext cx="3977640" cy="3465576"/>
          </a:xfrm>
          <a:prstGeom prst="roundRect">
            <a:avLst>
              <a:gd name="adj" fmla="val 2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004" name="text 287"/>
          <p:cNvSpPr txBox="1"/>
          <p:nvPr/>
        </p:nvSpPr>
        <p:spPr>
          <a:xfrm>
            <a:off x="685800" y="12801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Upstream contributions</a:t>
            </a:r>
            <a:endParaRPr lang="en-US" sz="1500" dirty="0"/>
          </a:p>
        </p:txBody>
      </p:sp>
      <p:sp>
        <p:nvSpPr>
          <p:cNvPr id="12005" name="marker 288"/>
          <p:cNvSpPr/>
          <p:nvPr/>
        </p:nvSpPr>
        <p:spPr>
          <a:xfrm>
            <a:off x="685800" y="178308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06" name="list item 289"/>
          <p:cNvSpPr txBox="1"/>
          <p:nvPr/>
        </p:nvSpPr>
        <p:spPr>
          <a:xfrm>
            <a:off x="91440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thunder-id/thunderid: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contracts,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device-secret issuance, token exchange with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device-secret actor tokens, consent hook</a:t>
            </a:r>
            <a:endParaRPr lang="en-US" sz="1200" dirty="0"/>
          </a:p>
        </p:txBody>
      </p:sp>
      <p:sp>
        <p:nvSpPr>
          <p:cNvPr id="12007" name="marker 290"/>
          <p:cNvSpPr/>
          <p:nvPr/>
        </p:nvSpPr>
        <p:spPr>
          <a:xfrm>
            <a:off x="685800" y="2478024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08" name="list item 291"/>
          <p:cNvSpPr txBox="1"/>
          <p:nvPr/>
        </p:nvSpPr>
        <p:spPr>
          <a:xfrm>
            <a:off x="914400" y="243230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mosip/esignet develop-go: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DeviceSecretProvider, derived consent,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token_exchange clients, config, docs,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Postman collection</a:t>
            </a:r>
            <a:endParaRPr lang="en-US" sz="1200" dirty="0"/>
          </a:p>
        </p:txBody>
      </p:sp>
      <p:sp>
        <p:nvSpPr>
          <p:cNvPr id="12009" name="marker 292"/>
          <p:cNvSpPr/>
          <p:nvPr/>
        </p:nvSpPr>
        <p:spPr>
          <a:xfrm>
            <a:off x="685800" y="3355848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10" name="list item 293"/>
          <p:cNvSpPr txBox="1"/>
          <p:nvPr/>
        </p:nvSpPr>
        <p:spPr>
          <a:xfrm>
            <a:off x="914400" y="3310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fix #2555: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unrecognised consent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purposeName</a:t>
            </a:r>
            <a:endParaRPr lang="en-US" sz="1200" dirty="0"/>
          </a:p>
        </p:txBody>
      </p:sp>
      <p:sp>
        <p:nvSpPr>
          <p:cNvPr id="12011" name="marker 294"/>
          <p:cNvSpPr/>
          <p:nvPr/>
        </p:nvSpPr>
        <p:spPr>
          <a:xfrm>
            <a:off x="685800" y="3867912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012" name="list item 295"/>
          <p:cNvSpPr txBox="1"/>
          <p:nvPr/>
        </p:nvSpPr>
        <p:spPr>
          <a:xfrm>
            <a:off x="914400" y="3822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branches: 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 signed-off, rebased on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thunderid main and esignet develop-go</a:t>
            </a:r>
            <a:endParaRPr lang="en-US" sz="1200" dirty="0"/>
          </a:p>
        </p:txBody>
      </p:sp>
      <p:sp>
        <p:nvSpPr>
          <p:cNvPr id="12013" name="card 296"/>
          <p:cNvSpPr/>
          <p:nvPr/>
        </p:nvSpPr>
        <p:spPr>
          <a:xfrm>
            <a:off x="4709160" y="1051560"/>
            <a:ext cx="3977640" cy="3465576"/>
          </a:xfrm>
          <a:prstGeom prst="roundRect">
            <a:avLst>
              <a:gd name="adj" fmla="val 211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014" name="text 297"/>
          <p:cNvSpPr txBox="1"/>
          <p:nvPr/>
        </p:nvSpPr>
        <p:spPr>
          <a:xfrm>
            <a:off x="4937760" y="12801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follow-ups</a:t>
            </a:r>
            <a:endParaRPr lang="en-US" sz="1500" dirty="0"/>
          </a:p>
        </p:txBody>
      </p:sp>
      <p:sp>
        <p:nvSpPr>
          <p:cNvPr id="12015" name="marker 298"/>
          <p:cNvSpPr/>
          <p:nvPr/>
        </p:nvSpPr>
        <p:spPr>
          <a:xfrm>
            <a:off x="4937760" y="178308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16" name="list item 299"/>
          <p:cNvSpPr txBox="1"/>
          <p:nvPr/>
        </p:nvSpPr>
        <p:spPr>
          <a:xfrm>
            <a:off x="51663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a device-secret family on super-app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sign-out (jti is signed and available)</a:t>
            </a:r>
            <a:endParaRPr lang="en-US" sz="1200" dirty="0"/>
          </a:p>
        </p:txBody>
      </p:sp>
      <p:sp>
        <p:nvSpPr>
          <p:cNvPr id="12017" name="marker 300"/>
          <p:cNvSpPr/>
          <p:nvPr/>
        </p:nvSpPr>
        <p:spPr>
          <a:xfrm>
            <a:off x="4937760" y="2295144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18" name="list item 301"/>
          <p:cNvSpPr txBox="1"/>
          <p:nvPr/>
        </p:nvSpPr>
        <p:spPr>
          <a:xfrm>
            <a:off x="5166360" y="22494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 jti tracking where a deployment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it</a:t>
            </a:r>
            <a:endParaRPr lang="en-US" sz="1200" dirty="0"/>
          </a:p>
        </p:txBody>
      </p:sp>
      <p:sp>
        <p:nvSpPr>
          <p:cNvPr id="12019" name="marker 302"/>
          <p:cNvSpPr/>
          <p:nvPr/>
        </p:nvSpPr>
        <p:spPr>
          <a:xfrm>
            <a:off x="4937760" y="28072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20" name="list item 303"/>
          <p:cNvSpPr txBox="1"/>
          <p:nvPr/>
        </p:nvSpPr>
        <p:spPr>
          <a:xfrm>
            <a:off x="5166360" y="2761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consent-screen line item explaining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device_sso to the citizen</a:t>
            </a:r>
            <a:endParaRPr lang="en-US" sz="1200" dirty="0"/>
          </a:p>
        </p:txBody>
      </p:sp>
      <p:sp>
        <p:nvSpPr>
          <p:cNvPr id="12021" name="marker 304"/>
          <p:cNvSpPr/>
          <p:nvPr/>
        </p:nvSpPr>
        <p:spPr>
          <a:xfrm>
            <a:off x="4937760" y="3319272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22" name="list item 305"/>
          <p:cNvSpPr txBox="1"/>
          <p:nvPr/>
        </p:nvSpPr>
        <p:spPr>
          <a:xfrm>
            <a:off x="5166360" y="32735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reference app (App Groups + Keychain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groups)</a:t>
            </a:r>
            <a:endParaRPr lang="en-US" sz="1200" dirty="0"/>
          </a:p>
        </p:txBody>
      </p:sp>
      <p:sp>
        <p:nvSpPr>
          <p:cNvPr id="12023" name="marker 306"/>
          <p:cNvSpPr/>
          <p:nvPr/>
        </p:nvSpPr>
        <p:spPr>
          <a:xfrm>
            <a:off x="4937760" y="383133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024" name="list item 307"/>
          <p:cNvSpPr txBox="1"/>
          <p:nvPr/>
        </p:nvSpPr>
        <p:spPr>
          <a:xfrm>
            <a:off x="5166360" y="37856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MOSIP IDA: encrypted KYC stays opaque;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sibling apps share the relying-party decryption</a:t>
            </a:r>
            <a:br/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endParaRPr lang="en-US" sz="1200" dirty="0"/>
          </a:p>
        </p:txBody>
      </p:sp>
      <p:sp>
        <p:nvSpPr>
          <p:cNvPr id="120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3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2" name="text 308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13003" name="closing title"/>
          <p:cNvSpPr txBox="1"/>
          <p:nvPr/>
        </p:nvSpPr>
        <p:spPr>
          <a:xfrm>
            <a:off x="548640" y="10058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trusted login, reused securely across every app in the family.</a:t>
            </a:r>
            <a:endParaRPr lang="en-US" sz="3400" dirty="0"/>
          </a:p>
        </p:txBody>
      </p:sp>
      <p:sp>
        <p:nvSpPr>
          <p:cNvPr id="13004" name="text 309"/>
          <p:cNvSpPr txBox="1"/>
          <p:nvPr/>
        </p:nvSpPr>
        <p:spPr>
          <a:xfrm>
            <a:off x="548640" y="23774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tests, Postman collection, documentation and the demo video are in the</a:t>
            </a:r>
            <a:br/>
            <a:r>
              <a:rPr lang="en-US" sz="16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repository.</a:t>
            </a:r>
            <a:endParaRPr lang="en-US" sz="1600" dirty="0"/>
          </a:p>
        </p:txBody>
      </p:sp>
      <p:sp>
        <p:nvSpPr>
          <p:cNvPr id="13005" name="command panel 310"/>
          <p:cNvSpPr/>
          <p:nvPr/>
        </p:nvSpPr>
        <p:spPr>
          <a:xfrm>
            <a:off x="548640" y="3108960"/>
            <a:ext cx="4754880" cy="118872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/>
        </p:spPr>
      </p:sp>
      <p:sp>
        <p:nvSpPr>
          <p:cNvPr id="13006" name="text 311"/>
          <p:cNvSpPr txBox="1"/>
          <p:nvPr/>
        </p:nvSpPr>
        <p:spPr>
          <a:xfrm>
            <a:off x="777240" y="327355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in ten minutes</a:t>
            </a:r>
            <a:endParaRPr lang="en-US" sz="1300" dirty="0"/>
          </a:p>
        </p:txBody>
      </p:sp>
      <p:sp>
        <p:nvSpPr>
          <p:cNvPr id="13007" name="try it commands"/>
          <p:cNvSpPr txBox="1"/>
          <p:nvPr/>
        </p:nvSpPr>
        <p:spPr>
          <a:xfrm>
            <a:off x="777240" y="361188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scripts/fetch-backends.sh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deploy/docker-compose.yml 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tests/native_sso_e2e.py</a:t>
            </a:r>
            <a:endParaRPr lang="en-US" sz="1200" dirty="0"/>
          </a:p>
        </p:txBody>
      </p:sp>
      <p:sp>
        <p:nvSpPr>
          <p:cNvPr id="13008" name="recap tile 312"/>
          <p:cNvSpPr/>
          <p:nvPr/>
        </p:nvSpPr>
        <p:spPr>
          <a:xfrm>
            <a:off x="5577840" y="3108960"/>
            <a:ext cx="914400" cy="118872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sp>
        <p:nvSpPr>
          <p:cNvPr id="13009" name="text 313"/>
          <p:cNvSpPr txBox="1"/>
          <p:nvPr/>
        </p:nvSpPr>
        <p:spPr>
          <a:xfrm>
            <a:off x="557784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010" name="text 314"/>
          <p:cNvSpPr txBox="1"/>
          <p:nvPr/>
        </p:nvSpPr>
        <p:spPr>
          <a:xfrm>
            <a:off x="557784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 PRs</a:t>
            </a:r>
            <a:endParaRPr lang="en-US" sz="1050" dirty="0"/>
          </a:p>
        </p:txBody>
      </p:sp>
      <p:sp>
        <p:nvSpPr>
          <p:cNvPr id="13011" name="recap tile 315"/>
          <p:cNvSpPr/>
          <p:nvPr/>
        </p:nvSpPr>
        <p:spPr>
          <a:xfrm>
            <a:off x="6629400" y="3108960"/>
            <a:ext cx="914400" cy="118872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sp>
        <p:nvSpPr>
          <p:cNvPr id="13012" name="text 316"/>
          <p:cNvSpPr txBox="1"/>
          <p:nvPr/>
        </p:nvSpPr>
        <p:spPr>
          <a:xfrm>
            <a:off x="662940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35/35</a:t>
            </a:r>
            <a:endParaRPr lang="en-US" sz="2400" dirty="0"/>
          </a:p>
        </p:txBody>
      </p:sp>
      <p:sp>
        <p:nvSpPr>
          <p:cNvPr id="13013" name="text 317"/>
          <p:cNvSpPr txBox="1"/>
          <p:nvPr/>
        </p:nvSpPr>
        <p:spPr>
          <a:xfrm>
            <a:off x="662940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checks</a:t>
            </a:r>
            <a:endParaRPr lang="en-US" sz="1050" dirty="0"/>
          </a:p>
        </p:txBody>
      </p:sp>
      <p:sp>
        <p:nvSpPr>
          <p:cNvPr id="13014" name="recap tile 318"/>
          <p:cNvSpPr/>
          <p:nvPr/>
        </p:nvSpPr>
        <p:spPr>
          <a:xfrm>
            <a:off x="7680960" y="3108960"/>
            <a:ext cx="914400" cy="118872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sp>
        <p:nvSpPr>
          <p:cNvPr id="13015" name="text 319"/>
          <p:cNvSpPr txBox="1"/>
          <p:nvPr/>
        </p:nvSpPr>
        <p:spPr>
          <a:xfrm>
            <a:off x="7680960" y="33101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00" dirty="0"/>
          </a:p>
        </p:txBody>
      </p:sp>
      <p:sp>
        <p:nvSpPr>
          <p:cNvPr id="13016" name="text 320"/>
          <p:cNvSpPr txBox="1"/>
          <p:nvPr/>
        </p:nvSpPr>
        <p:spPr>
          <a:xfrm>
            <a:off x="768096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1050" dirty="0"/>
          </a:p>
        </p:txBody>
      </p:sp>
      <p:sp>
        <p:nvSpPr>
          <p:cNvPr id="13017" name="text 321"/>
          <p:cNvSpPr txBox="1"/>
          <p:nvPr/>
        </p:nvSpPr>
        <p:spPr>
          <a:xfrm>
            <a:off x="548640" y="44256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AlphaQ · MOSIP Decode 2026 · Problem statement 03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phaQ Native SSO">
  <a:themeElements>
    <a:clrScheme name="AlphaQ Native SSO">
      <a:dk1>
        <a:srgbClr val="1B2535"/>
      </a:dk1>
      <a:lt1>
        <a:srgbClr val="FFFFFF"/>
      </a:lt1>
      <a:dk2>
        <a:srgbClr val="4A5568"/>
      </a:dk2>
      <a:lt2>
        <a:srgbClr val="F3F5F9"/>
      </a:lt2>
      <a:accent1>
        <a:srgbClr val="E8541E"/>
      </a:accent1>
      <a:accent2>
        <a:srgbClr val="1F5FA8"/>
      </a:accent2>
      <a:accent3>
        <a:srgbClr val="2E7D32"/>
      </a:accent3>
      <a:accent4>
        <a:srgbClr val="3E4C66"/>
      </a:accent4>
      <a:accent5>
        <a:srgbClr val="C9D3E3"/>
      </a:accent5>
      <a:accent6>
        <a:srgbClr val="FFE6D9"/>
      </a:accent6>
      <a:hlink>
        <a:srgbClr val="1F5FA8"/>
      </a:hlink>
      <a:folHlink>
        <a:srgbClr val="1F5FA8"/>
      </a:folHlink>
    </a:clrScheme>
    <a:fontScheme name="AlphaQ Native SSO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Go for Mobile Apps</dc:title>
  <dc:subject>MOSIP Decode 2026 - Problem statement 03</dc:subject>
  <dc:creator>Team AlphaQ</dc:creator>
  <cp:lastModifiedBy>Team AlphaQ</cp:lastModifiedBy>
  <cp:revision>1</cp:revision>
  <dcterms:created xsi:type="dcterms:W3CDTF">2026-10-25T19:23:26Z</dcterms:created>
  <dcterms:modified xsi:type="dcterms:W3CDTF">2026-10-25T19:23:26Z</dcterms:modified>
</cp:coreProperties>
</file>