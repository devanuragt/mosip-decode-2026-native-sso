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ddeb266-8a35-13f9-cb9e-317f2b724f71}">
          <p14:sldIdLst>
            <p14:sldId id="256"/>
          </p14:sldIdLst>
        </p14:section>
        <p14:section name="Problem and approach" id="{10b1cc95-e195-0f93-a312-30372574e412}">
          <p14:sldIdLst>
            <p14:sldId id="257"/>
            <p14:sldId id="258"/>
          </p14:sldIdLst>
        </p14:section>
        <p14:section name="How it works" id="{568fc004-4564-9b66-e3ff-f5c28776e5d8}">
          <p14:sldIdLst>
            <p14:sldId id="259"/>
            <p14:sldId id="260"/>
            <p14:sldId id="261"/>
            <p14:sldId id="262"/>
            <p14:sldId id="263"/>
          </p14:sldIdLst>
        </p14:section>
        <p14:section name="Delivery" id="{bae59345-3c79-bf69-ba2a-c146c8d90a54}">
          <p14:sldIdLst>
            <p14:sldId id="264"/>
            <p14:sldId id="265"/>
            <p14:sldId id="266"/>
            <p14:sldId id="267"/>
          </p14:sldIdLst>
        </p14:section>
        <p14:section name="Closing" id="{1359b2f0-8b81-9985-565f-b9e9580e9c9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One login, every app: a citizen signs in once in the vendor's super app and every sibling app on the phone reuses that login without a browser, an OTP or a consent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native SSO is a real problem for national ID programmes: every app of the same vendor re-runs UIN, OTP and consent.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moves: super app logs in once with device_sso; the device secret is cryptographically bound; the child app exchanges it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Phone side: Wallet holds Key A and exposes a ContentProvider; Health never holds a key. Server side: the ThunderID engine enforces the grant rules, eSignet's DeviceSecretProvider mints and validates the secret through the keymanager and records derived consent.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Flow 1 is a standard FAPI 2.0 authorization-code login plus the device_sso scope. Steps 4 to 6 are the new engine and provider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Flow 2 is RFC 8693 token exchange with the device secret as actor token. The child app never touches Key A; the Wallet signs its DPoP proofs.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binding is enforced in the engine and covered by a negative end-to-end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bonus task: when the child needs a claim the user declined for the super app, the silent path is refused and the child falls back to an interactive consent for its own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ten tasks of the problem statement and the bonus, with where each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two upstream PRs, 35 end-to-end checks, 50+ unit tests, three Android modules, plus the documentation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SDK and the two apps are a template for relying parties: everything a vendor needs to adopt native SSO is in the SDK.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the work goes upstream and what a production deployment would add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footer"/>
          <p:cNvSpPr txBox="1"/>
          <p:nvPr/>
        </p:nvSpPr>
        <p:spPr>
          <a:xfrm>
            <a:off x="457200" y="47365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MOSIP Decode 2026 · PS03 · Native SSO in eSignet (Go) · Team AlphaQ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MOSIP DECODE 2026 · PROBLEM STATEMENT 03</a:t>
            </a:r>
            <a:endParaRPr lang="en-US" sz="1100" dirty="0"/>
          </a:p>
        </p:txBody>
      </p:sp>
      <p:sp>
        <p:nvSpPr>
          <p:cNvPr id="3" name="deck title"/>
          <p:cNvSpPr txBox="1"/>
          <p:nvPr/>
        </p:nvSpPr>
        <p:spPr>
          <a:xfrm>
            <a:off x="548640" y="10972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login, every app.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OpenID Connect Native SSO for Mobile Apps, implemented in eSignet (Go) and the ThunderID engine, with an Android SDK and two reference apps.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Team AlphaQ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51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eSignet | Enable Native SSO in eSignet Go for Mobile Apps</a:t>
            </a:r>
            <a:endParaRPr lang="en-US" sz="1100" dirty="0"/>
          </a:p>
        </p:txBody>
      </p:sp>
      <p:sp>
        <p:nvSpPr>
          <p:cNvPr id="7" name="login badge"/>
          <p:cNvSpPr/>
          <p:nvPr/>
        </p:nvSpPr>
        <p:spPr>
          <a:xfrm>
            <a:off x="6583680" y="2148840"/>
            <a:ext cx="914400" cy="91440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login badge text"/>
          <p:cNvSpPr txBox="1"/>
          <p:nvPr/>
        </p:nvSpPr>
        <p:spPr>
          <a:xfrm>
            <a:off x="6583680" y="21488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login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 flipV="1">
            <a:off x="7498080" y="1600200"/>
            <a:ext cx="548640" cy="100584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" name="app Wallet"/>
          <p:cNvSpPr/>
          <p:nvPr/>
        </p:nvSpPr>
        <p:spPr>
          <a:xfrm>
            <a:off x="8046720" y="1143000"/>
            <a:ext cx="1188720" cy="914400"/>
          </a:xfrm>
          <a:prstGeom prst="roundRect">
            <a:avLst>
              <a:gd name="adj" fmla="val 1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app text Wallet"/>
          <p:cNvSpPr txBox="1"/>
          <p:nvPr/>
        </p:nvSpPr>
        <p:spPr>
          <a:xfrm>
            <a:off x="8046720" y="114300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Wallet</a:t>
            </a:r>
            <a:endParaRPr lang="en-US" sz="1300" dirty="0"/>
          </a:p>
        </p:txBody>
      </p:sp>
      <p:sp>
        <p:nvSpPr>
          <p:cNvPr id="12" name="arrow"/>
          <p:cNvSpPr/>
          <p:nvPr/>
        </p:nvSpPr>
        <p:spPr>
          <a:xfrm>
            <a:off x="7498080" y="2606040"/>
            <a:ext cx="54864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app Health"/>
          <p:cNvSpPr/>
          <p:nvPr/>
        </p:nvSpPr>
        <p:spPr>
          <a:xfrm>
            <a:off x="8046720" y="2148840"/>
            <a:ext cx="1188720" cy="91440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app text Health"/>
          <p:cNvSpPr txBox="1"/>
          <p:nvPr/>
        </p:nvSpPr>
        <p:spPr>
          <a:xfrm>
            <a:off x="8046720" y="21488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Health</a:t>
            </a:r>
            <a:endParaRPr lang="en-US" sz="1300" dirty="0"/>
          </a:p>
        </p:txBody>
      </p:sp>
      <p:sp>
        <p:nvSpPr>
          <p:cNvPr id="15" name="arrow"/>
          <p:cNvSpPr/>
          <p:nvPr/>
        </p:nvSpPr>
        <p:spPr>
          <a:xfrm>
            <a:off x="7498080" y="2606040"/>
            <a:ext cx="548640" cy="100584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app Tax"/>
          <p:cNvSpPr/>
          <p:nvPr/>
        </p:nvSpPr>
        <p:spPr>
          <a:xfrm>
            <a:off x="8046720" y="3154680"/>
            <a:ext cx="1188720" cy="914400"/>
          </a:xfrm>
          <a:prstGeom prst="roundRect">
            <a:avLst>
              <a:gd name="adj" fmla="val 15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app text Tax"/>
          <p:cNvSpPr txBox="1"/>
          <p:nvPr/>
        </p:nvSpPr>
        <p:spPr>
          <a:xfrm>
            <a:off x="8046720" y="315468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Tax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Native apps do not share a login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citizen with a wallet, a health app and a tax app from the same vendor authenticates three times: UIN, OTP and consent in every app, on the same phone. Browser cookies never reach a native app's sandbox, so the usual web SSO does not help.</a:t>
            </a:r>
            <a:endParaRPr lang="en-US" sz="1400" dirty="0"/>
          </a:p>
        </p:txBody>
      </p:sp>
      <p:sp>
        <p:nvSpPr>
          <p:cNvPr id="4" name="card"/>
          <p:cNvSpPr/>
          <p:nvPr/>
        </p:nvSpPr>
        <p:spPr>
          <a:xfrm>
            <a:off x="457200" y="2423160"/>
            <a:ext cx="1554480" cy="17830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25146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3×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29184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OTP + consent today, for three apps</a:t>
            </a:r>
            <a:endParaRPr lang="en-US" sz="1100" dirty="0"/>
          </a:p>
        </p:txBody>
      </p:sp>
      <p:sp>
        <p:nvSpPr>
          <p:cNvPr id="7" name="card"/>
          <p:cNvSpPr/>
          <p:nvPr/>
        </p:nvSpPr>
        <p:spPr>
          <a:xfrm>
            <a:off x="2194560" y="2423160"/>
            <a:ext cx="1554480" cy="17830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1720" y="25146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329184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shared sessions between native apps</a:t>
            </a:r>
            <a:endParaRPr lang="en-US" sz="1100" dirty="0"/>
          </a:p>
        </p:txBody>
      </p:sp>
      <p:sp>
        <p:nvSpPr>
          <p:cNvPr id="10" name="card"/>
          <p:cNvSpPr/>
          <p:nvPr/>
        </p:nvSpPr>
        <p:spPr>
          <a:xfrm>
            <a:off x="3931920" y="2423160"/>
            <a:ext cx="1554480" cy="17830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69080" y="25146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069080" y="329184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trusted login is all that is needed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5760720" y="1051560"/>
            <a:ext cx="2926080" cy="315468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8932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What the spec asks for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1645920"/>
            <a:ext cx="2560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accent5"/>
                </a:solidFill>
              </a:rPr>
              <a:t>A deliberately designed, cryptographically secured hand-off of authentication state between apps on one device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accent5"/>
                </a:solidFill>
              </a:rPr>
              <a:t>No shared cookie, no repeated login, no silent widening of consent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accent5"/>
                </a:solidFill>
              </a:rPr>
              <a:t>Standards: OIDC Native SSO 1.0, RFC 8693 token exchange, RFC 9449 DPoP, FAPI 2.0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The solution in three moves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051560"/>
            <a:ext cx="2651760" cy="26974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badge 1"/>
          <p:cNvSpPr/>
          <p:nvPr/>
        </p:nvSpPr>
        <p:spPr>
          <a:xfrm>
            <a:off x="640080" y="12344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badge text 1"/>
          <p:cNvSpPr txBox="1"/>
          <p:nvPr/>
        </p:nvSpPr>
        <p:spPr>
          <a:xfrm>
            <a:off x="64008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Super app logs in once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48840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PAR + PKCE + DPoP with a hardware key (Key A) and the new device_sso scope. eSignet returns an access_token, an id_token and a device_secret.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3246120" y="1051560"/>
            <a:ext cx="2651760" cy="26974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badge 2"/>
          <p:cNvSpPr/>
          <p:nvPr/>
        </p:nvSpPr>
        <p:spPr>
          <a:xfrm>
            <a:off x="3429000" y="12344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adge text 2"/>
          <p:cNvSpPr txBox="1"/>
          <p:nvPr/>
        </p:nvSpPr>
        <p:spPr>
          <a:xfrm>
            <a:off x="34290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737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 secret stays bound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148840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device secret is a signed-then-encrypted JWT carrying cnf.jkt = Key A, sid, scope and the consented claims. The id_token carries ds_hash and the same sid.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6035040" y="1051560"/>
            <a:ext cx="2651760" cy="26974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badge 3"/>
          <p:cNvSpPr/>
          <p:nvPr/>
        </p:nvSpPr>
        <p:spPr>
          <a:xfrm>
            <a:off x="6217920" y="123444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badge text 3"/>
          <p:cNvSpPr txBox="1"/>
          <p:nvPr/>
        </p:nvSpPr>
        <p:spPr>
          <a:xfrm>
            <a:off x="621792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1737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Child app signs in silently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148840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Over a signature-protected IPC it receives id_token + device_secret + a DPoP proof signed by Key A, and exchanges them (RFC 8693) for its own token.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457200" y="393192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9319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Result: the child app gets its own DPoP-bound token with no browser, no OTP and no consent screen, and nothing the user did not consent to.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Architecture: who does what</a:t>
            </a:r>
            <a:endParaRPr lang="en-US" sz="2800" dirty="0"/>
          </a:p>
        </p:txBody>
      </p:sp>
      <p:sp>
        <p:nvSpPr>
          <p:cNvPr id="3" name="phone group"/>
          <p:cNvSpPr/>
          <p:nvPr/>
        </p:nvSpPr>
        <p:spPr>
          <a:xfrm>
            <a:off x="457200" y="1051560"/>
            <a:ext cx="2377440" cy="347472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server group"/>
          <p:cNvSpPr/>
          <p:nvPr/>
        </p:nvSpPr>
        <p:spPr>
          <a:xfrm>
            <a:off x="3200400" y="1051560"/>
            <a:ext cx="548640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chemeClr val="tx2"/>
                </a:solidFill>
              </a:rPr>
              <a:t>PHONE (one vendor certificate)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chemeClr val="tx2"/>
                </a:solidFill>
              </a:rPr>
              <a:t>eSIGNET (GO) + THUNDERID ENGINE</a:t>
            </a:r>
            <a:endParaRPr lang="en-US" sz="900" dirty="0"/>
          </a:p>
        </p:txBody>
      </p:sp>
      <p:sp>
        <p:nvSpPr>
          <p:cNvPr id="7" name="box Vendor Wallet"/>
          <p:cNvSpPr/>
          <p:nvPr/>
        </p:nvSpPr>
        <p:spPr>
          <a:xfrm>
            <a:off x="640080" y="1508760"/>
            <a:ext cx="2011680" cy="822960"/>
          </a:xfrm>
          <a:prstGeom prst="roundRect">
            <a:avLst>
              <a:gd name="adj" fmla="val 666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box text Vendor Wallet"/>
          <p:cNvSpPr txBox="1"/>
          <p:nvPr/>
        </p:nvSpPr>
        <p:spPr>
          <a:xfrm>
            <a:off x="713232" y="150876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Vendor Wallet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super app · Key A in the Keystore</a:t>
            </a:r>
            <a:endParaRPr lang="en-US" sz="1200" dirty="0"/>
          </a:p>
        </p:txBody>
      </p:sp>
      <p:sp>
        <p:nvSpPr>
          <p:cNvPr id="9" name="box Vendor Health"/>
          <p:cNvSpPr/>
          <p:nvPr/>
        </p:nvSpPr>
        <p:spPr>
          <a:xfrm>
            <a:off x="640080" y="3474720"/>
            <a:ext cx="2011680" cy="822960"/>
          </a:xfrm>
          <a:prstGeom prst="roundRect">
            <a:avLst>
              <a:gd name="adj" fmla="val 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box text Vendor Health"/>
          <p:cNvSpPr txBox="1"/>
          <p:nvPr/>
        </p:nvSpPr>
        <p:spPr>
          <a:xfrm>
            <a:off x="713232" y="34747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Vendor Health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child app · no key of its own</a:t>
            </a:r>
            <a:endParaRPr lang="en-US" sz="1200" dirty="0"/>
          </a:p>
        </p:txBody>
      </p:sp>
      <p:sp>
        <p:nvSpPr>
          <p:cNvPr id="11" name="arrow"/>
          <p:cNvSpPr/>
          <p:nvPr/>
        </p:nvSpPr>
        <p:spPr>
          <a:xfrm flipV="1">
            <a:off x="1645920" y="2331720"/>
            <a:ext cx="0" cy="1143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685800" y="2514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IPC: id_token, device_secret,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DPoP proofs (signature permission)</a:t>
            </a:r>
            <a:endParaRPr lang="en-US" sz="850" dirty="0"/>
          </a:p>
        </p:txBody>
      </p:sp>
      <p:sp>
        <p:nvSpPr>
          <p:cNvPr id="13" name="box ThunderID engine"/>
          <p:cNvSpPr/>
          <p:nvPr/>
        </p:nvSpPr>
        <p:spPr>
          <a:xfrm>
            <a:off x="3429000" y="1508760"/>
            <a:ext cx="2423160" cy="1005840"/>
          </a:xfrm>
          <a:prstGeom prst="roundRect">
            <a:avLst>
              <a:gd name="adj" fmla="val 545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box text ThunderID engine"/>
          <p:cNvSpPr txBox="1"/>
          <p:nvPr/>
        </p:nvSpPr>
        <p:spPr>
          <a:xfrm>
            <a:off x="3502152" y="1508760"/>
            <a:ext cx="22768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ThunderID engine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authorization-code grant · token exchange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ds_hash · sid · cnf.jkt · scope ⊆ grant</a:t>
            </a:r>
            <a:endParaRPr lang="en-US" sz="1200" dirty="0"/>
          </a:p>
        </p:txBody>
      </p:sp>
      <p:sp>
        <p:nvSpPr>
          <p:cNvPr id="15" name="box DeviceSecretProvider"/>
          <p:cNvSpPr/>
          <p:nvPr/>
        </p:nvSpPr>
        <p:spPr>
          <a:xfrm>
            <a:off x="6080760" y="1508760"/>
            <a:ext cx="2423160" cy="1005840"/>
          </a:xfrm>
          <a:prstGeom prst="roundRect">
            <a:avLst>
              <a:gd name="adj" fmla="val 545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ox text DeviceSecretProvider"/>
          <p:cNvSpPr txBox="1"/>
          <p:nvPr/>
        </p:nvSpPr>
        <p:spPr>
          <a:xfrm>
            <a:off x="6153912" y="1508760"/>
            <a:ext cx="22768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DeviceSecretProvider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eSignet · generate / validate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vendor family · derived consent</a:t>
            </a:r>
            <a:endParaRPr lang="en-US" sz="1200" dirty="0"/>
          </a:p>
        </p:txBody>
      </p:sp>
      <p:sp>
        <p:nvSpPr>
          <p:cNvPr id="17" name="box Keymanager"/>
          <p:cNvSpPr/>
          <p:nvPr/>
        </p:nvSpPr>
        <p:spPr>
          <a:xfrm>
            <a:off x="3429000" y="3291840"/>
            <a:ext cx="2423160" cy="1005840"/>
          </a:xfrm>
          <a:prstGeom prst="roundRect">
            <a:avLst>
              <a:gd name="adj" fmla="val 545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box text Keymanager"/>
          <p:cNvSpPr txBox="1"/>
          <p:nvPr/>
        </p:nvSpPr>
        <p:spPr>
          <a:xfrm>
            <a:off x="3502152" y="3291840"/>
            <a:ext cx="22768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Keymanager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sign (OIDC key) + encrypt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(DEVICE_SECRET_ENC)</a:t>
            </a:r>
            <a:endParaRPr lang="en-US" sz="1200" dirty="0"/>
          </a:p>
        </p:txBody>
      </p:sp>
      <p:sp>
        <p:nvSpPr>
          <p:cNvPr id="19" name="box Consent store"/>
          <p:cNvSpPr/>
          <p:nvPr/>
        </p:nvSpPr>
        <p:spPr>
          <a:xfrm>
            <a:off x="6080760" y="3291840"/>
            <a:ext cx="2423160" cy="1005840"/>
          </a:xfrm>
          <a:prstGeom prst="roundRect">
            <a:avLst>
              <a:gd name="adj" fmla="val 545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box text Consent store"/>
          <p:cNvSpPr txBox="1"/>
          <p:nvPr/>
        </p:nvSpPr>
        <p:spPr>
          <a:xfrm>
            <a:off x="6153912" y="3291840"/>
            <a:ext cx="22768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Consent store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consent_detail + history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(derived-consent audit)</a:t>
            </a:r>
            <a:endParaRPr lang="en-US" sz="1200" dirty="0"/>
          </a:p>
        </p:txBody>
      </p:sp>
      <p:sp>
        <p:nvSpPr>
          <p:cNvPr id="21" name="arrow"/>
          <p:cNvSpPr/>
          <p:nvPr/>
        </p:nvSpPr>
        <p:spPr>
          <a:xfrm>
            <a:off x="2651760" y="1783080"/>
            <a:ext cx="77724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health link 1"/>
          <p:cNvSpPr/>
          <p:nvPr/>
        </p:nvSpPr>
        <p:spPr>
          <a:xfrm>
            <a:off x="2651760" y="3886200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health link 2"/>
          <p:cNvSpPr/>
          <p:nvPr/>
        </p:nvSpPr>
        <p:spPr>
          <a:xfrm>
            <a:off x="3108960" y="2240280"/>
            <a:ext cx="0" cy="16459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4" name="arrow"/>
          <p:cNvSpPr/>
          <p:nvPr/>
        </p:nvSpPr>
        <p:spPr>
          <a:xfrm>
            <a:off x="3108960" y="2240280"/>
            <a:ext cx="32004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5" name="arrow"/>
          <p:cNvSpPr/>
          <p:nvPr/>
        </p:nvSpPr>
        <p:spPr>
          <a:xfrm>
            <a:off x="5852160" y="2011680"/>
            <a:ext cx="2286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6" name="provider link 1"/>
          <p:cNvSpPr/>
          <p:nvPr/>
        </p:nvSpPr>
        <p:spPr>
          <a:xfrm>
            <a:off x="7287768" y="2514600"/>
            <a:ext cx="0" cy="4114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7" name="provider link 2"/>
          <p:cNvSpPr/>
          <p:nvPr/>
        </p:nvSpPr>
        <p:spPr>
          <a:xfrm>
            <a:off x="4636008" y="2926080"/>
            <a:ext cx="26517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8" name="arrow"/>
          <p:cNvSpPr/>
          <p:nvPr/>
        </p:nvSpPr>
        <p:spPr>
          <a:xfrm>
            <a:off x="4636008" y="2926080"/>
            <a:ext cx="0" cy="36576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9" name="arrow"/>
          <p:cNvSpPr/>
          <p:nvPr/>
        </p:nvSpPr>
        <p:spPr>
          <a:xfrm>
            <a:off x="7287768" y="2926080"/>
            <a:ext cx="0" cy="36576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Flow 1: super app login with device_sso</a:t>
            </a:r>
            <a:endParaRPr lang="en-US" sz="2800" dirty="0"/>
          </a:p>
        </p:txBody>
      </p:sp>
      <p:sp>
        <p:nvSpPr>
          <p:cNvPr id="3" name="badge 1"/>
          <p:cNvSpPr/>
          <p:nvPr/>
        </p:nvSpPr>
        <p:spPr>
          <a:xfrm>
            <a:off x="457200" y="1124712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badge text 1"/>
          <p:cNvSpPr txBox="1"/>
          <p:nvPr/>
        </p:nvSpPr>
        <p:spPr>
          <a:xfrm>
            <a:off x="457200" y="11247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051560"/>
            <a:ext cx="45720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POST /oauth2/par with scope=openid profile email device_sso, dpop_jkt = thumbprint(Key A), PKCE and a PS256 private_key_jwt</a:t>
            </a:r>
            <a:endParaRPr lang="en-US" sz="1150" dirty="0"/>
          </a:p>
        </p:txBody>
      </p:sp>
      <p:sp>
        <p:nvSpPr>
          <p:cNvPr id="6" name="badge 2"/>
          <p:cNvSpPr/>
          <p:nvPr/>
        </p:nvSpPr>
        <p:spPr>
          <a:xfrm>
            <a:off x="457200" y="1703832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badge text 2"/>
          <p:cNvSpPr txBox="1"/>
          <p:nvPr/>
        </p:nvSpPr>
        <p:spPr>
          <a:xfrm>
            <a:off x="457200" y="1703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630680"/>
            <a:ext cx="45720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Custom Tab: eSignet OTP login and consent; the user chooses which claims to release</a:t>
            </a:r>
            <a:endParaRPr lang="en-US" sz="1150" dirty="0"/>
          </a:p>
        </p:txBody>
      </p:sp>
      <p:sp>
        <p:nvSpPr>
          <p:cNvPr id="9" name="badge 3"/>
          <p:cNvSpPr/>
          <p:nvPr/>
        </p:nvSpPr>
        <p:spPr>
          <a:xfrm>
            <a:off x="457200" y="2282952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badge text 3"/>
          <p:cNvSpPr txBox="1"/>
          <p:nvPr/>
        </p:nvSpPr>
        <p:spPr>
          <a:xfrm>
            <a:off x="457200" y="2282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209800"/>
            <a:ext cx="45720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POST /oauth2/token (authorization_code) with a DPoP proof signed by Key A</a:t>
            </a:r>
            <a:endParaRPr lang="en-US" sz="1150" dirty="0"/>
          </a:p>
        </p:txBody>
      </p:sp>
      <p:sp>
        <p:nvSpPr>
          <p:cNvPr id="12" name="badge 4"/>
          <p:cNvSpPr/>
          <p:nvPr/>
        </p:nvSpPr>
        <p:spPr>
          <a:xfrm>
            <a:off x="457200" y="286207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badge text 4"/>
          <p:cNvSpPr txBox="1"/>
          <p:nvPr/>
        </p:nvSpPr>
        <p:spPr>
          <a:xfrm>
            <a:off x="457200" y="2862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2788920"/>
            <a:ext cx="45720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The engine checks that the client is registered for device_sso and calls GenerateDeviceSecret(sub, auth_id, sid, client_id, scope, acr, claims, cnf.jkt)</a:t>
            </a:r>
            <a:endParaRPr lang="en-US" sz="1150" dirty="0"/>
          </a:p>
        </p:txBody>
      </p:sp>
      <p:sp>
        <p:nvSpPr>
          <p:cNvPr id="15" name="badge 5"/>
          <p:cNvSpPr/>
          <p:nvPr/>
        </p:nvSpPr>
        <p:spPr>
          <a:xfrm>
            <a:off x="457200" y="344119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adge text 5"/>
          <p:cNvSpPr txBox="1"/>
          <p:nvPr/>
        </p:nvSpPr>
        <p:spPr>
          <a:xfrm>
            <a:off x="457200" y="3441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3368040"/>
            <a:ext cx="45720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eSignet signs the claims and encrypts the JWS to its component encryption key: an opaque device_secret</a:t>
            </a:r>
            <a:endParaRPr lang="en-US" sz="1150" dirty="0"/>
          </a:p>
        </p:txBody>
      </p:sp>
      <p:sp>
        <p:nvSpPr>
          <p:cNvPr id="18" name="badge 6"/>
          <p:cNvSpPr/>
          <p:nvPr/>
        </p:nvSpPr>
        <p:spPr>
          <a:xfrm>
            <a:off x="457200" y="402031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badge text 6"/>
          <p:cNvSpPr txBox="1"/>
          <p:nvPr/>
        </p:nvSpPr>
        <p:spPr>
          <a:xfrm>
            <a:off x="457200" y="40203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3947160"/>
            <a:ext cx="457200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Response: access_token (cnf.jkt), id_token (ds_hash, sid) and device_secret, stored encrypted in the app</a:t>
            </a:r>
            <a:endParaRPr lang="en-US" sz="1150" dirty="0"/>
          </a:p>
        </p:txBody>
      </p:sp>
      <p:sp>
        <p:nvSpPr>
          <p:cNvPr id="21" name="card"/>
          <p:cNvSpPr/>
          <p:nvPr/>
        </p:nvSpPr>
        <p:spPr>
          <a:xfrm>
            <a:off x="5852160" y="1051560"/>
            <a:ext cx="2834640" cy="3474720"/>
          </a:xfrm>
          <a:prstGeom prst="roundRect">
            <a:avLst>
              <a:gd name="adj" fmla="val 2581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35040" y="1188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id_token gains</a:t>
            </a:r>
            <a:endParaRPr lang="en-US" sz="1200" dirty="0"/>
          </a:p>
        </p:txBody>
      </p:sp>
      <p:sp>
        <p:nvSpPr>
          <p:cNvPr id="23" name="id token claims"/>
          <p:cNvSpPr txBox="1"/>
          <p:nvPr/>
        </p:nvSpPr>
        <p:spPr>
          <a:xfrm>
            <a:off x="6035040" y="150876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ds_hash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BASE64URL(SHA-256(device_secret))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sid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shared with the device secret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2788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device_secret carries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310896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iss · sub · auth_id · sid · client_id · scope · acr · claims · cnf.jkt · iat · exp · jti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Flow 2: child app silent sign-in</a:t>
            </a:r>
            <a:endParaRPr lang="en-US" sz="2800" dirty="0"/>
          </a:p>
        </p:txBody>
      </p:sp>
      <p:sp>
        <p:nvSpPr>
          <p:cNvPr id="3" name="badge 1"/>
          <p:cNvSpPr/>
          <p:nvPr/>
        </p:nvSpPr>
        <p:spPr>
          <a:xfrm>
            <a:off x="457200" y="1124712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badge text 1"/>
          <p:cNvSpPr txBox="1"/>
          <p:nvPr/>
        </p:nvSpPr>
        <p:spPr>
          <a:xfrm>
            <a:off x="457200" y="11247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05156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The child asks the super app over a ContentProvider behind a signature-level permission for its id_token, device_secret and a DPoP proof for POST /oauth2/token</a:t>
            </a:r>
            <a:endParaRPr lang="en-US" sz="1150" dirty="0"/>
          </a:p>
        </p:txBody>
      </p:sp>
      <p:sp>
        <p:nvSpPr>
          <p:cNvPr id="6" name="badge 2"/>
          <p:cNvSpPr/>
          <p:nvPr/>
        </p:nvSpPr>
        <p:spPr>
          <a:xfrm>
            <a:off x="457200" y="181965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badge text 2"/>
          <p:cNvSpPr txBox="1"/>
          <p:nvPr/>
        </p:nvSpPr>
        <p:spPr>
          <a:xfrm>
            <a:off x="457200" y="1819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746504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The super app re-checks the caller's signing certificate and signs the proof with Key A; the key never leaves the Wallet</a:t>
            </a:r>
            <a:endParaRPr lang="en-US" sz="1150" dirty="0"/>
          </a:p>
        </p:txBody>
      </p:sp>
      <p:sp>
        <p:nvSpPr>
          <p:cNvPr id="9" name="badge 3"/>
          <p:cNvSpPr/>
          <p:nvPr/>
        </p:nvSpPr>
        <p:spPr>
          <a:xfrm>
            <a:off x="457200" y="251460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badge text 3"/>
          <p:cNvSpPr txBox="1"/>
          <p:nvPr/>
        </p:nvSpPr>
        <p:spPr>
          <a:xfrm>
            <a:off x="457200" y="2514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441448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POST /oauth2/token with grant_type=token-exchange, subject_token=id_token, actor_token=device_secret, scope=openid profile email</a:t>
            </a:r>
            <a:endParaRPr lang="en-US" sz="1150" dirty="0"/>
          </a:p>
        </p:txBody>
      </p:sp>
      <p:sp>
        <p:nvSpPr>
          <p:cNvPr id="12" name="badge 4"/>
          <p:cNvSpPr/>
          <p:nvPr/>
        </p:nvSpPr>
        <p:spPr>
          <a:xfrm>
            <a:off x="457200" y="320954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badge text 4"/>
          <p:cNvSpPr txBox="1"/>
          <p:nvPr/>
        </p:nvSpPr>
        <p:spPr>
          <a:xfrm>
            <a:off x="457200" y="3209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136392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Engine: client enabled · secret decrypted and verified · ds_hash · sid · sub · cnf.jkt = DPoP key · vendor family · scope ⊆ grant · consent</a:t>
            </a:r>
            <a:endParaRPr lang="en-US" sz="1150" dirty="0"/>
          </a:p>
        </p:txBody>
      </p:sp>
      <p:sp>
        <p:nvSpPr>
          <p:cNvPr id="15" name="badge 5"/>
          <p:cNvSpPr/>
          <p:nvPr/>
        </p:nvSpPr>
        <p:spPr>
          <a:xfrm>
            <a:off x="457200" y="390448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badge text 5"/>
          <p:cNvSpPr txBox="1"/>
          <p:nvPr/>
        </p:nvSpPr>
        <p:spPr>
          <a:xfrm>
            <a:off x="457200" y="3904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3831336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Response: a DPoP-bound access_token with act.sub = super app; userinfo returns the consented claims</a:t>
            </a:r>
            <a:endParaRPr lang="en-US" sz="1150" dirty="0"/>
          </a:p>
        </p:txBody>
      </p:sp>
      <p:sp>
        <p:nvSpPr>
          <p:cNvPr id="18" name="phone frame Vendor Health signed in silently"/>
          <p:cNvSpPr/>
          <p:nvPr/>
        </p:nvSpPr>
        <p:spPr>
          <a:xfrm>
            <a:off x="5303520" y="1143000"/>
            <a:ext cx="1483512" cy="3200400"/>
          </a:xfrm>
          <a:prstGeom prst="roundRect">
            <a:avLst>
              <a:gd name="adj" fmla="val 739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9" name="Vendor Health signed in silently" descr="/Users/anurag/MOSIP hack/docs/images/health-signed-in-silent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188720"/>
            <a:ext cx="1392072" cy="31089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061352" y="1188720"/>
            <a:ext cx="162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Seen on the phone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61352" y="1554480"/>
            <a:ext cx="1625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Under a quarter of a second. No browser, no OTP, no consent screen.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061352" y="2651760"/>
            <a:ext cx="162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act.sub = mosip-super-app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061352" y="2926080"/>
            <a:ext cx="162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cnf.jkt = Key 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Six bindings make the hand-off safe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051560"/>
            <a:ext cx="26517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badge 1"/>
          <p:cNvSpPr/>
          <p:nvPr/>
        </p:nvSpPr>
        <p:spPr>
          <a:xfrm>
            <a:off x="640080" y="12344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badge text 1"/>
          <p:cNvSpPr txBox="1"/>
          <p:nvPr/>
        </p:nvSpPr>
        <p:spPr>
          <a:xfrm>
            <a:off x="6400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2344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ds_hash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691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The id_token names exactly one device secret. Swap either and the exchange fails.</a:t>
            </a:r>
            <a:endParaRPr lang="en-US" sz="1150" dirty="0"/>
          </a:p>
        </p:txBody>
      </p:sp>
      <p:sp>
        <p:nvSpPr>
          <p:cNvPr id="8" name="card"/>
          <p:cNvSpPr/>
          <p:nvPr/>
        </p:nvSpPr>
        <p:spPr>
          <a:xfrm>
            <a:off x="3246120" y="1051560"/>
            <a:ext cx="26517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badge 2"/>
          <p:cNvSpPr/>
          <p:nvPr/>
        </p:nvSpPr>
        <p:spPr>
          <a:xfrm>
            <a:off x="3429000" y="12344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badge text 2"/>
          <p:cNvSpPr txBox="1"/>
          <p:nvPr/>
        </p:nvSpPr>
        <p:spPr>
          <a:xfrm>
            <a:off x="34290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12344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691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Both tokens descend from the same authentication (the session id, or the authorization id).</a:t>
            </a:r>
            <a:endParaRPr lang="en-US" sz="1150" dirty="0"/>
          </a:p>
        </p:txBody>
      </p:sp>
      <p:sp>
        <p:nvSpPr>
          <p:cNvPr id="13" name="card"/>
          <p:cNvSpPr/>
          <p:nvPr/>
        </p:nvSpPr>
        <p:spPr>
          <a:xfrm>
            <a:off x="6035040" y="1051560"/>
            <a:ext cx="26517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badge 3"/>
          <p:cNvSpPr/>
          <p:nvPr/>
        </p:nvSpPr>
        <p:spPr>
          <a:xfrm>
            <a:off x="6217920" y="12344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badge text 3"/>
          <p:cNvSpPr txBox="1"/>
          <p:nvPr/>
        </p:nvSpPr>
        <p:spPr>
          <a:xfrm>
            <a:off x="621792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12344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cnf.jkt = DPoP key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691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Only a proof from Key A redeems the secret; a stolen pair is useless without the hardware key.</a:t>
            </a:r>
            <a:endParaRPr lang="en-US" sz="1150" dirty="0"/>
          </a:p>
        </p:txBody>
      </p:sp>
      <p:sp>
        <p:nvSpPr>
          <p:cNvPr id="18" name="card"/>
          <p:cNvSpPr/>
          <p:nvPr/>
        </p:nvSpPr>
        <p:spPr>
          <a:xfrm>
            <a:off x="457200" y="2834640"/>
            <a:ext cx="26517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badge 4"/>
          <p:cNvSpPr/>
          <p:nvPr/>
        </p:nvSpPr>
        <p:spPr>
          <a:xfrm>
            <a:off x="640080" y="301752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badge text 4"/>
          <p:cNvSpPr txBox="1"/>
          <p:nvPr/>
        </p:nvSpPr>
        <p:spPr>
          <a:xfrm>
            <a:off x="64008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0175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Vendor family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474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Same relying party or an allow-listed sibling, registered for device_sso. Others get invalid_grant.</a:t>
            </a:r>
            <a:endParaRPr lang="en-US" sz="1150" dirty="0"/>
          </a:p>
        </p:txBody>
      </p:sp>
      <p:sp>
        <p:nvSpPr>
          <p:cNvPr id="23" name="card"/>
          <p:cNvSpPr/>
          <p:nvPr/>
        </p:nvSpPr>
        <p:spPr>
          <a:xfrm>
            <a:off x="3246120" y="2834640"/>
            <a:ext cx="26517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badge 5"/>
          <p:cNvSpPr/>
          <p:nvPr/>
        </p:nvSpPr>
        <p:spPr>
          <a:xfrm>
            <a:off x="3429000" y="301752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badge text 5"/>
          <p:cNvSpPr txBox="1"/>
          <p:nvPr/>
        </p:nvSpPr>
        <p:spPr>
          <a:xfrm>
            <a:off x="342900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886200" y="30175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Scope ⊆ grant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474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The child never exceeds what the super app was granted; device_sso itself is never exchangeable.</a:t>
            </a:r>
            <a:endParaRPr lang="en-US" sz="1150" dirty="0"/>
          </a:p>
        </p:txBody>
      </p:sp>
      <p:sp>
        <p:nvSpPr>
          <p:cNvPr id="28" name="card"/>
          <p:cNvSpPr/>
          <p:nvPr/>
        </p:nvSpPr>
        <p:spPr>
          <a:xfrm>
            <a:off x="6035040" y="2834640"/>
            <a:ext cx="26517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9" name="badge 6"/>
          <p:cNvSpPr/>
          <p:nvPr/>
        </p:nvSpPr>
        <p:spPr>
          <a:xfrm>
            <a:off x="6217920" y="301752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badge text 6"/>
          <p:cNvSpPr txBox="1"/>
          <p:nvPr/>
        </p:nvSpPr>
        <p:spPr>
          <a:xfrm>
            <a:off x="62179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675120" y="30175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Derived consent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474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Only claims the user accepted for the super app are released; anything else is interaction_required.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Bonus: re-consent instead of over-sharing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super app's consent is reused, never widened. eSignet compares the child's requested claims with what the user accepted and either derives a consent record for the child (with an audit row) or refuses the silent path.</a:t>
            </a:r>
            <a:endParaRPr lang="en-US" sz="1300" dirty="0"/>
          </a:p>
        </p:txBody>
      </p:sp>
      <p:sp>
        <p:nvSpPr>
          <p:cNvPr id="4" name="box Child requests"/>
          <p:cNvSpPr/>
          <p:nvPr/>
        </p:nvSpPr>
        <p:spPr>
          <a:xfrm>
            <a:off x="457200" y="1920240"/>
            <a:ext cx="2194560" cy="77724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box text Child requests"/>
          <p:cNvSpPr txBox="1"/>
          <p:nvPr/>
        </p:nvSpPr>
        <p:spPr>
          <a:xfrm>
            <a:off x="530352" y="1920240"/>
            <a:ext cx="20482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Child requests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openid email</a:t>
            </a:r>
            <a:endParaRPr lang="en-US" sz="1200" dirty="0"/>
          </a:p>
        </p:txBody>
      </p:sp>
      <p:sp>
        <p:nvSpPr>
          <p:cNvPr id="6" name="arrow"/>
          <p:cNvSpPr/>
          <p:nvPr/>
        </p:nvSpPr>
        <p:spPr>
          <a:xfrm>
            <a:off x="2651760" y="2304288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7" name="box email was declined"/>
          <p:cNvSpPr/>
          <p:nvPr/>
        </p:nvSpPr>
        <p:spPr>
          <a:xfrm>
            <a:off x="3108960" y="1920240"/>
            <a:ext cx="2651760" cy="777240"/>
          </a:xfrm>
          <a:prstGeom prst="roundRect">
            <a:avLst>
              <a:gd name="adj" fmla="val 705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box text email was declined"/>
          <p:cNvSpPr txBox="1"/>
          <p:nvPr/>
        </p:nvSpPr>
        <p:spPr>
          <a:xfrm>
            <a:off x="3182112" y="192024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email was declined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at the super app's consent</a:t>
            </a:r>
            <a:endParaRPr lang="en-US" sz="1200" dirty="0"/>
          </a:p>
        </p:txBody>
      </p:sp>
      <p:sp>
        <p:nvSpPr>
          <p:cNvPr id="9" name="arrow"/>
          <p:cNvSpPr/>
          <p:nvPr/>
        </p:nvSpPr>
        <p:spPr>
          <a:xfrm>
            <a:off x="5760720" y="2304288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box interaction_required"/>
          <p:cNvSpPr/>
          <p:nvPr/>
        </p:nvSpPr>
        <p:spPr>
          <a:xfrm>
            <a:off x="6217920" y="1920240"/>
            <a:ext cx="2468880" cy="77724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box text interaction_required"/>
          <p:cNvSpPr txBox="1"/>
          <p:nvPr/>
        </p:nvSpPr>
        <p:spPr>
          <a:xfrm>
            <a:off x="6291072" y="19202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interaction_required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"claims not consented: email"</a:t>
            </a:r>
            <a:endParaRPr lang="en-US" sz="1200" dirty="0"/>
          </a:p>
        </p:txBody>
      </p:sp>
      <p:sp>
        <p:nvSpPr>
          <p:cNvPr id="12" name="box Child requests"/>
          <p:cNvSpPr/>
          <p:nvPr/>
        </p:nvSpPr>
        <p:spPr>
          <a:xfrm>
            <a:off x="457200" y="2926080"/>
            <a:ext cx="2194560" cy="77724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box text Child requests"/>
          <p:cNvSpPr txBox="1"/>
          <p:nvPr/>
        </p:nvSpPr>
        <p:spPr>
          <a:xfrm>
            <a:off x="530352" y="2926080"/>
            <a:ext cx="20482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Child requests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openid profile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2651760" y="3310128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5" name="box name was accepted"/>
          <p:cNvSpPr/>
          <p:nvPr/>
        </p:nvSpPr>
        <p:spPr>
          <a:xfrm>
            <a:off x="3108960" y="2926080"/>
            <a:ext cx="2651760" cy="777240"/>
          </a:xfrm>
          <a:prstGeom prst="roundRect">
            <a:avLst>
              <a:gd name="adj" fmla="val 705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box text name was accepted"/>
          <p:cNvSpPr txBox="1"/>
          <p:nvPr/>
        </p:nvSpPr>
        <p:spPr>
          <a:xfrm>
            <a:off x="3182112" y="292608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name was accepted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at the super app's consent</a:t>
            </a:r>
            <a:endParaRPr lang="en-US" sz="1200" dirty="0"/>
          </a:p>
        </p:txBody>
      </p:sp>
      <p:sp>
        <p:nvSpPr>
          <p:cNvPr id="17" name="arrow"/>
          <p:cNvSpPr/>
          <p:nvPr/>
        </p:nvSpPr>
        <p:spPr>
          <a:xfrm>
            <a:off x="5760720" y="3310128"/>
            <a:ext cx="45720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box Silent sign-in; consent recorded"/>
          <p:cNvSpPr/>
          <p:nvPr/>
        </p:nvSpPr>
        <p:spPr>
          <a:xfrm>
            <a:off x="6217920" y="2926080"/>
            <a:ext cx="2468880" cy="777240"/>
          </a:xfrm>
          <a:prstGeom prst="roundRect">
            <a:avLst>
              <a:gd name="adj" fmla="val 705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box text Silent sign-in; consent recorded"/>
          <p:cNvSpPr txBox="1"/>
          <p:nvPr/>
        </p:nvSpPr>
        <p:spPr>
          <a:xfrm>
            <a:off x="6291072" y="292608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Silent sign-in; consent recorded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for the child app + history row</a:t>
            </a:r>
            <a:endParaRPr lang="en-US" sz="1200" dirty="0"/>
          </a:p>
        </p:txBody>
      </p:sp>
      <p:sp>
        <p:nvSpPr>
          <p:cNvPr id="20" name="card"/>
          <p:cNvSpPr/>
          <p:nvPr/>
        </p:nvSpPr>
        <p:spPr>
          <a:xfrm>
            <a:off x="457200" y="402336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40233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On interaction_required (or invalid_scope) the child app explains why in plain language and opens the eSignet consent flow for its own client.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Every mandatory task, plus the bonus</a:t>
            </a:r>
            <a:endParaRPr lang="en-US" sz="2800" dirty="0"/>
          </a:p>
        </p:txBody>
      </p:sp>
      <p:graphicFrame>
        <p:nvGraphicFramePr>
          <p:cNvPr id="10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840480"/>
                <a:gridCol w="2834640"/>
                <a:gridCol w="731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Task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Where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device_sso scope on the authorize request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eSignet config · ThunderID protocol scope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Token endpoint validates the scope for the client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ThunderID auth-code grant · eSignet provider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3–4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DeviceSecretProvider interface; generate / validate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ThunderID providers · eSignet keymanager (JWS + JWE)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5–6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Token endpoint issues and returns the device secret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ThunderID auth-code grant · token response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7–8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Child app fetches credentials over IPC and calls token exchange with a Key A DPoP proof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Android SDK + apps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Token exchange: device-secret actor, ds_hash, sid, client enablement, cnf.jkt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ThunderID token exchange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10a / 10b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Child scope ⊆ super scope; device_sso refused on exchange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ThunderID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Bonus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Re-consent in the child app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ThunderID + eSignet consent + apps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3"/>
                          </a:solidFill>
                        </a:rPr>
                        <a:t>done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we built and how we proved it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051560"/>
            <a:ext cx="40233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2240280" y="12801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upstream pull requests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240280" y="16459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thunder-id/thunderid and mosip/esignet develop-go, both DCO signed-off</a:t>
            </a:r>
            <a:endParaRPr lang="en-US" sz="1100" dirty="0"/>
          </a:p>
        </p:txBody>
      </p:sp>
      <p:sp>
        <p:nvSpPr>
          <p:cNvPr id="7" name="card"/>
          <p:cNvSpPr/>
          <p:nvPr/>
        </p:nvSpPr>
        <p:spPr>
          <a:xfrm>
            <a:off x="4663440" y="1051560"/>
            <a:ext cx="40233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18872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35/35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12801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end-to-end checks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6459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against a live eSignet, including every negative case and the re-consent path</a:t>
            </a:r>
            <a:endParaRPr lang="en-US" sz="1100" dirty="0"/>
          </a:p>
        </p:txBody>
      </p:sp>
      <p:sp>
        <p:nvSpPr>
          <p:cNvPr id="11" name="card"/>
          <p:cNvSpPr/>
          <p:nvPr/>
        </p:nvSpPr>
        <p:spPr>
          <a:xfrm>
            <a:off x="457200" y="2514600"/>
            <a:ext cx="40233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65176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50+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2743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new unit tests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31089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across the ThunderID engine and the eSignet provider; SDK tests run in CI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4663440" y="2514600"/>
            <a:ext cx="40233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92040" y="265176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743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Android modules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1089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nativesso-sdk, Vendor Wallet, Vendor Health, one vendor certificate</a:t>
            </a:r>
            <a:endParaRPr lang="en-US" sz="1100" dirty="0"/>
          </a:p>
        </p:txBody>
      </p:sp>
      <p:sp>
        <p:nvSpPr>
          <p:cNvPr id="19" name="card"/>
          <p:cNvSpPr/>
          <p:nvPr/>
        </p:nvSpPr>
        <p:spPr>
          <a:xfrm>
            <a:off x="457200" y="402336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0233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Also: Postman collection (20 requests), design and API documentation, OpenAPI update, configuration reference, one-command docker compose stack, demo video.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Reference apps and SDK for relying parties</a:t>
            </a:r>
            <a:endParaRPr lang="en-US" sz="2800" dirty="0"/>
          </a:p>
        </p:txBody>
      </p:sp>
      <p:sp>
        <p:nvSpPr>
          <p:cNvPr id="3" name="phone frame Vendor Wallet signed in"/>
          <p:cNvSpPr/>
          <p:nvPr/>
        </p:nvSpPr>
        <p:spPr>
          <a:xfrm>
            <a:off x="457200" y="1051560"/>
            <a:ext cx="1585870" cy="3429000"/>
          </a:xfrm>
          <a:prstGeom prst="roundRect">
            <a:avLst>
              <a:gd name="adj" fmla="val 691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4" name="Vendor Wallet signed in" descr="/Users/anurag/MOSIP hack/docs/images/wallet-signed-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1494430" cy="3337560"/>
          </a:xfrm>
          <a:prstGeom prst="rect">
            <a:avLst/>
          </a:prstGeom>
        </p:spPr>
      </p:pic>
      <p:sp>
        <p:nvSpPr>
          <p:cNvPr id="5" name="phone frame Vendor Health signed in silently"/>
          <p:cNvSpPr/>
          <p:nvPr/>
        </p:nvSpPr>
        <p:spPr>
          <a:xfrm>
            <a:off x="2225950" y="1051560"/>
            <a:ext cx="1585870" cy="3429000"/>
          </a:xfrm>
          <a:prstGeom prst="roundRect">
            <a:avLst>
              <a:gd name="adj" fmla="val 691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Vendor Health signed in silently" descr="/Users/anurag/MOSIP hack/docs/images/health-signed-in-silentl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670" y="1097280"/>
            <a:ext cx="1494430" cy="3337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177580" y="1097280"/>
            <a:ext cx="45092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nativesso-sdk: PAR/PKCE/DPoP client, Key A in the Android Keystore (StrongBox preferred), PS256 private_key_jwt, ID-token verification, encrypted session store, IPC contract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Vendor Wallet exports a ContentProvider behind a signature-level permission and re-checks the caller's certificate on every call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Vendor Health never holds a key: every DPoP proof is signed by the Wallet, so its token is bound to the same hardware key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On-screen details for the demo: sid, ds_hash, SHA-256 of the stored secret, act.sub, cnf.jkt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Fallback to interactive consent when eSignet answers interaction_required or invalid_scope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Upstream path and what comes next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051560"/>
            <a:ext cx="4023360" cy="288036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Upstream contributions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00200"/>
            <a:ext cx="36118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thunder-id/thunderid: provider contracts, device-secret issuance, token exchange with device-secret actor tokens, consent hook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mosip/esignet develop-go: DeviceSecretProvider, derived consent, token_exchange clients, config, docs, Postman collection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Plus an eSignet community fix: #2555 (unrecognised consent purposeName)</a:t>
            </a:r>
            <a:endParaRPr lang="en-US" sz="1250" dirty="0"/>
          </a:p>
        </p:txBody>
      </p:sp>
      <p:sp>
        <p:nvSpPr>
          <p:cNvPr id="6" name="card"/>
          <p:cNvSpPr/>
          <p:nvPr/>
        </p:nvSpPr>
        <p:spPr>
          <a:xfrm>
            <a:off x="4663440" y="1051560"/>
            <a:ext cx="4023360" cy="288036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Natural follow-ups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00200"/>
            <a:ext cx="36118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Revoke a device-secret family on super-app sign-out (jti is signed and available)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Single-use jti tracking where a deployment wants it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 consent-screen line item explaining device_sso to the citizen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iOS reference app (App Groups + Keychain access groups)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MOSIP IDA: encrypted KYC stays opaque; sibling apps share the relying-party decryption key</a:t>
            </a:r>
            <a:endParaRPr lang="en-US" sz="1250" dirty="0"/>
          </a:p>
        </p:txBody>
      </p:sp>
      <p:sp>
        <p:nvSpPr>
          <p:cNvPr id="9" name="card"/>
          <p:cNvSpPr/>
          <p:nvPr/>
        </p:nvSpPr>
        <p:spPr>
          <a:xfrm>
            <a:off x="457200" y="406908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0690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Both branches are DCO signed-off and rebased on the current upstream bases (thunderid main, esignet develop-go).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THANK YOU</a:t>
            </a:r>
            <a:endParaRPr lang="en-US" sz="1100" dirty="0"/>
          </a:p>
        </p:txBody>
      </p:sp>
      <p:sp>
        <p:nvSpPr>
          <p:cNvPr id="3" name="closing title"/>
          <p:cNvSpPr txBox="1"/>
          <p:nvPr/>
        </p:nvSpPr>
        <p:spPr>
          <a:xfrm>
            <a:off x="548640" y="10972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trusted login, reused securely across every app in the family.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Code, tests, Postman collection, documentation and the demo video are in the submission repository.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Try it in ten minutes</a:t>
            </a:r>
            <a:endParaRPr lang="en-US" sz="1300" dirty="0"/>
          </a:p>
        </p:txBody>
      </p:sp>
      <p:sp>
        <p:nvSpPr>
          <p:cNvPr id="6" name="try it commands"/>
          <p:cNvSpPr txBox="1"/>
          <p:nvPr/>
        </p:nvSpPr>
        <p:spPr>
          <a:xfrm>
            <a:off x="548640" y="370332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scripts/fetch-backends.sh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-f deploy/docker-compose.yml up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tests/native_sso_e2e.py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526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Team AlphaQ · MOSIP Decode 2026 · Problem statement 03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phaQ Native SSO">
  <a:themeElements>
    <a:clrScheme name="AlphaQ Native SSO">
      <a:dk1>
        <a:srgbClr val="1B2535"/>
      </a:dk1>
      <a:lt1>
        <a:srgbClr val="FFFFFF"/>
      </a:lt1>
      <a:dk2>
        <a:srgbClr val="4A5568"/>
      </a:dk2>
      <a:lt2>
        <a:srgbClr val="F3F5F9"/>
      </a:lt2>
      <a:accent1>
        <a:srgbClr val="E8541E"/>
      </a:accent1>
      <a:accent2>
        <a:srgbClr val="1F5FA8"/>
      </a:accent2>
      <a:accent3>
        <a:srgbClr val="2E7D32"/>
      </a:accent3>
      <a:accent4>
        <a:srgbClr val="3E4C66"/>
      </a:accent4>
      <a:accent5>
        <a:srgbClr val="C9D3E3"/>
      </a:accent5>
      <a:accent6>
        <a:srgbClr val="FFE6D9"/>
      </a:accent6>
      <a:hlink>
        <a:srgbClr val="1F5FA8"/>
      </a:hlink>
      <a:folHlink>
        <a:srgbClr val="1F5FA8"/>
      </a:folHlink>
    </a:clrScheme>
    <a:fontScheme name="AlphaQ Native SS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 SSO in eSignet Go for Mobile Apps</dc:title>
  <dc:subject>MOSIP Decode 2026 - Problem statement 03</dc:subject>
  <dc:creator>Team AlphaQ</dc:creator>
  <cp:lastModifiedBy>Team AlphaQ</cp:lastModifiedBy>
  <cp:revision>1</cp:revision>
  <dcterms:created xsi:type="dcterms:W3CDTF">2026-10-25T18:49:06Z</dcterms:created>
  <dcterms:modified xsi:type="dcterms:W3CDTF">2026-10-25T18:49:06Z</dcterms:modified>
</cp:coreProperties>
</file>