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f6e1082-8704-ac16-4621-28f93aa89d2f}">
          <p14:sldIdLst>
            <p14:sldId id="256"/>
          </p14:sldIdLst>
        </p14:section>
        <p14:section name="Problem and solution" id="{a1adb653-885a-2f3f-baf0-e6d4f79c6668}">
          <p14:sldIdLst>
            <p14:sldId id="257"/>
            <p14:sldId id="258"/>
          </p14:sldIdLst>
        </p14:section>
        <p14:section name="Design" id="{2e45af17-a508-6c63-883b-eb2daeeda966}">
          <p14:sldIdLst>
            <p14:sldId id="259"/>
            <p14:sldId id="260"/>
            <p14:sldId id="261"/>
            <p14:sldId id="262"/>
            <p14:sldId id="263"/>
          </p14:sldIdLst>
        </p14:section>
        <p14:section name="Delivery" id="{e3080fc9-c971-5b63-01c7-935533b54976}">
          <p14:sldIdLst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MOSIP Decode 2026 · PS03 · Native SSO in eSignet (Go)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MOSIP DECODE 2026 · PROBLEM STATEMENT 03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One login, every app.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OpenID Connect Native SSO for Mobile Apps, implemented in eSignet (Go) and the ThunderID engine, with Android reference apps.</a:t>
            </a:r>
            <a:endParaRPr lang="en-US" sz="18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Anurag Thakur · eSignet | Enable Native SSO in eSignet Go for Mobile Apps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Native apps do not share a login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457200" y="1188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citizen with a wallet, a health app and a tax app from the same vendor authenticates three times: UIN, OTP, consent, every app, on the same phone. Browser cookies never reach a native app's sandbox.</a:t>
            </a:r>
            <a:endParaRPr lang="en-US" sz="1500" dirty="0"/>
          </a:p>
        </p:txBody>
      </p:sp>
      <p:sp>
        <p:nvSpPr>
          <p:cNvPr id="4" name="card"/>
          <p:cNvSpPr/>
          <p:nvPr/>
        </p:nvSpPr>
        <p:spPr>
          <a:xfrm>
            <a:off x="457200" y="2743200"/>
            <a:ext cx="1508760" cy="16459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"/>
          <p:cNvSpPr txBox="1"/>
          <p:nvPr/>
        </p:nvSpPr>
        <p:spPr>
          <a:xfrm>
            <a:off x="594360" y="28803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3×</a:t>
            </a:r>
            <a:endParaRPr lang="en-US" sz="4000" dirty="0"/>
          </a:p>
        </p:txBody>
      </p:sp>
      <p:sp>
        <p:nvSpPr>
          <p:cNvPr id="6" name="text"/>
          <p:cNvSpPr txBox="1"/>
          <p:nvPr/>
        </p:nvSpPr>
        <p:spPr>
          <a:xfrm>
            <a:off x="594360" y="3657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OTP + consent for three apps</a:t>
            </a:r>
            <a:endParaRPr lang="en-US" sz="1100" dirty="0"/>
          </a:p>
        </p:txBody>
      </p:sp>
      <p:sp>
        <p:nvSpPr>
          <p:cNvPr id="7" name="card"/>
          <p:cNvSpPr/>
          <p:nvPr/>
        </p:nvSpPr>
        <p:spPr>
          <a:xfrm>
            <a:off x="2103120" y="2743200"/>
            <a:ext cx="1508760" cy="16459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2240280" y="28803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</a:t>
            </a:r>
            <a:endParaRPr lang="en-US" sz="4000" dirty="0"/>
          </a:p>
        </p:txBody>
      </p:sp>
      <p:sp>
        <p:nvSpPr>
          <p:cNvPr id="9" name="text"/>
          <p:cNvSpPr txBox="1"/>
          <p:nvPr/>
        </p:nvSpPr>
        <p:spPr>
          <a:xfrm>
            <a:off x="2240280" y="3657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shared session between native apps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3749040" y="2743200"/>
            <a:ext cx="1508760" cy="164592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3886200" y="28803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12" name="text"/>
          <p:cNvSpPr txBox="1"/>
          <p:nvPr/>
        </p:nvSpPr>
        <p:spPr>
          <a:xfrm>
            <a:off x="3886200" y="36576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trusted login is all that is needed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5577840" y="1188720"/>
            <a:ext cx="3108960" cy="3200400"/>
          </a:xfrm>
          <a:prstGeom prst="roundRect">
            <a:avLst>
              <a:gd name="adj" fmla="val 3529"/>
            </a:avLst>
          </a:prstGeom>
          <a:solidFill>
            <a:srgbClr val="16213A"/>
          </a:solidFill>
          <a:ln w="9525">
            <a:solidFill>
              <a:srgbClr val="16213A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580644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What the spec asks for</a:t>
            </a:r>
            <a:endParaRPr lang="en-US" sz="1400" dirty="0"/>
          </a:p>
        </p:txBody>
      </p:sp>
      <p:sp>
        <p:nvSpPr>
          <p:cNvPr id="15" name="bullets"/>
          <p:cNvSpPr txBox="1"/>
          <p:nvPr/>
        </p:nvSpPr>
        <p:spPr>
          <a:xfrm>
            <a:off x="5806440" y="182880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A deliberately designed, cryptographically secured hand-off of authentication state between apps on one device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No shared cookie, no repeated login, no silent widening of consent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Standards: OIDC Native SSO 1.0, RFC 8693 token exchange, RFC 9449 DPoP, FAPI 2.0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solution in three moves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badge-1"/>
          <p:cNvSpPr/>
          <p:nvPr/>
        </p:nvSpPr>
        <p:spPr>
          <a:xfrm>
            <a:off x="640080" y="14173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badge-text-1"/>
          <p:cNvSpPr txBox="1"/>
          <p:nvPr/>
        </p:nvSpPr>
        <p:spPr>
          <a:xfrm>
            <a:off x="6400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"/>
          <p:cNvSpPr txBox="1"/>
          <p:nvPr/>
        </p:nvSpPr>
        <p:spPr>
          <a:xfrm>
            <a:off x="64008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Super app logs in once</a:t>
            </a:r>
            <a:endParaRPr lang="en-US" sz="1600" dirty="0"/>
          </a:p>
        </p:txBody>
      </p:sp>
      <p:sp>
        <p:nvSpPr>
          <p:cNvPr id="7" name="text"/>
          <p:cNvSpPr txBox="1"/>
          <p:nvPr/>
        </p:nvSpPr>
        <p:spPr>
          <a:xfrm>
            <a:off x="640080" y="2514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PAR + PKCE + DPoP with a hardware key (Key A) and the new device_sso scope. eSignet returns access_token, id_token and a device_secret.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3291840" y="123444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badge-2"/>
          <p:cNvSpPr/>
          <p:nvPr/>
        </p:nvSpPr>
        <p:spPr>
          <a:xfrm>
            <a:off x="3474720" y="14173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2"/>
          <p:cNvSpPr txBox="1"/>
          <p:nvPr/>
        </p:nvSpPr>
        <p:spPr>
          <a:xfrm>
            <a:off x="34747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"/>
          <p:cNvSpPr txBox="1"/>
          <p:nvPr/>
        </p:nvSpPr>
        <p:spPr>
          <a:xfrm>
            <a:off x="347472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Secret stays bound</a:t>
            </a:r>
            <a:endParaRPr lang="en-US" sz="1600" dirty="0"/>
          </a:p>
        </p:txBody>
      </p:sp>
      <p:sp>
        <p:nvSpPr>
          <p:cNvPr id="12" name="text"/>
          <p:cNvSpPr txBox="1"/>
          <p:nvPr/>
        </p:nvSpPr>
        <p:spPr>
          <a:xfrm>
            <a:off x="3474720" y="2514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device secret is a signed-then-encrypted JWT carrying cnf.jkt = Key A, sid, scope and the consented claims; the id_token carries ds_hash and the same sid.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6126480" y="123444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badge-3"/>
          <p:cNvSpPr/>
          <p:nvPr/>
        </p:nvSpPr>
        <p:spPr>
          <a:xfrm>
            <a:off x="6309360" y="141732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badge-text-3"/>
          <p:cNvSpPr txBox="1"/>
          <p:nvPr/>
        </p:nvSpPr>
        <p:spPr>
          <a:xfrm>
            <a:off x="630936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"/>
          <p:cNvSpPr txBox="1"/>
          <p:nvPr/>
        </p:nvSpPr>
        <p:spPr>
          <a:xfrm>
            <a:off x="6309360" y="1920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Child app signs in silently</a:t>
            </a:r>
            <a:endParaRPr lang="en-US" sz="1600" dirty="0"/>
          </a:p>
        </p:txBody>
      </p:sp>
      <p:sp>
        <p:nvSpPr>
          <p:cNvPr id="17" name="text"/>
          <p:cNvSpPr txBox="1"/>
          <p:nvPr/>
        </p:nvSpPr>
        <p:spPr>
          <a:xfrm>
            <a:off x="6309360" y="25146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Over a signature-protected IPC it gets id_token + device_secret + a DPoP proof signed by Key A, and exchanges them (RFC 8693) for its own token.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Architecture: who does what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377440" cy="338328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59436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PHONE (one vendor certificate)</a:t>
            </a:r>
            <a:endParaRPr lang="en-US" sz="1000" dirty="0"/>
          </a:p>
        </p:txBody>
      </p:sp>
      <p:sp>
        <p:nvSpPr>
          <p:cNvPr id="5" name="box"/>
          <p:cNvSpPr/>
          <p:nvPr/>
        </p:nvSpPr>
        <p:spPr>
          <a:xfrm>
            <a:off x="594360" y="164592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1B5E9E"/>
          </a:solidFill>
          <a:ln w="12700">
            <a:solidFill>
              <a:srgbClr val="1B5E9E"/>
            </a:solidFill>
            <a:prstDash val="solid"/>
          </a:ln>
        </p:spPr>
      </p:sp>
      <p:sp>
        <p:nvSpPr>
          <p:cNvPr id="6" name="box-text"/>
          <p:cNvSpPr txBox="1"/>
          <p:nvPr/>
        </p:nvSpPr>
        <p:spPr>
          <a:xfrm>
            <a:off x="594360" y="1645920"/>
            <a:ext cx="21031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Vendor Wallet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super app · Key A in Keystore</a:t>
            </a:r>
            <a:endParaRPr lang="en-US" sz="1200" dirty="0"/>
          </a:p>
        </p:txBody>
      </p:sp>
      <p:sp>
        <p:nvSpPr>
          <p:cNvPr id="7" name="box"/>
          <p:cNvSpPr/>
          <p:nvPr/>
        </p:nvSpPr>
        <p:spPr>
          <a:xfrm>
            <a:off x="594360" y="3566160"/>
            <a:ext cx="2103120" cy="731520"/>
          </a:xfrm>
          <a:prstGeom prst="roundRect">
            <a:avLst>
              <a:gd name="adj" fmla="val 125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box-text"/>
          <p:cNvSpPr txBox="1"/>
          <p:nvPr/>
        </p:nvSpPr>
        <p:spPr>
          <a:xfrm>
            <a:off x="59436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Vendor Health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child app · no key of its own</a:t>
            </a:r>
            <a:endParaRPr lang="en-US" sz="1200" dirty="0"/>
          </a:p>
        </p:txBody>
      </p:sp>
      <p:sp>
        <p:nvSpPr>
          <p:cNvPr id="9" name="arrow"/>
          <p:cNvSpPr/>
          <p:nvPr/>
        </p:nvSpPr>
        <p:spPr>
          <a:xfrm flipV="1">
            <a:off x="1645920" y="2377440"/>
            <a:ext cx="9144" cy="1188720"/>
          </a:xfrm>
          <a:prstGeom prst="line">
            <a:avLst/>
          </a:prstGeom>
          <a:noFill/>
          <a:ln w="19050">
            <a:solidFill>
              <a:srgbClr val="3D4A63"/>
            </a:solidFill>
            <a:prstDash val="solid"/>
            <a:tailEnd type="triangle"/>
          </a:ln>
        </p:spPr>
      </p:sp>
      <p:sp>
        <p:nvSpPr>
          <p:cNvPr id="10" name="text"/>
          <p:cNvSpPr txBox="1"/>
          <p:nvPr/>
        </p:nvSpPr>
        <p:spPr>
          <a:xfrm>
            <a:off x="594360" y="25146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IPC: id_token, device_secret,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DPoP proofs (signature permission)</a:t>
            </a:r>
            <a:endParaRPr lang="en-US" sz="1000" dirty="0"/>
          </a:p>
        </p:txBody>
      </p:sp>
      <p:sp>
        <p:nvSpPr>
          <p:cNvPr id="11" name="card"/>
          <p:cNvSpPr/>
          <p:nvPr/>
        </p:nvSpPr>
        <p:spPr>
          <a:xfrm>
            <a:off x="3291840" y="1188720"/>
            <a:ext cx="5394960" cy="3383280"/>
          </a:xfrm>
          <a:prstGeom prst="roundRect">
            <a:avLst>
              <a:gd name="adj" fmla="val 3243"/>
            </a:avLst>
          </a:prstGeom>
          <a:solidFill>
            <a:srgbClr val="F3F5F9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3429000" y="1280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eSIGNET (GO) + THUNDERID ENGINE</a:t>
            </a:r>
            <a:endParaRPr lang="en-US" sz="1000" dirty="0"/>
          </a:p>
        </p:txBody>
      </p:sp>
      <p:sp>
        <p:nvSpPr>
          <p:cNvPr id="13" name="box"/>
          <p:cNvSpPr/>
          <p:nvPr/>
        </p:nvSpPr>
        <p:spPr>
          <a:xfrm>
            <a:off x="342900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4" name="box-text"/>
          <p:cNvSpPr txBox="1"/>
          <p:nvPr/>
        </p:nvSpPr>
        <p:spPr>
          <a:xfrm>
            <a:off x="342900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ThunderID engine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authorization-code grant · token exchange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ds_hash · sid · cnf.jkt · scope ⊆ grant</a:t>
            </a:r>
            <a:endParaRPr lang="en-US" sz="1200" dirty="0"/>
          </a:p>
        </p:txBody>
      </p:sp>
      <p:sp>
        <p:nvSpPr>
          <p:cNvPr id="15" name="box"/>
          <p:cNvSpPr/>
          <p:nvPr/>
        </p:nvSpPr>
        <p:spPr>
          <a:xfrm>
            <a:off x="6080760" y="16459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E9641E"/>
          </a:solidFill>
          <a:ln w="12700">
            <a:solidFill>
              <a:srgbClr val="E9641E"/>
            </a:solidFill>
            <a:prstDash val="solid"/>
          </a:ln>
        </p:spPr>
      </p:sp>
      <p:sp>
        <p:nvSpPr>
          <p:cNvPr id="16" name="box-text"/>
          <p:cNvSpPr txBox="1"/>
          <p:nvPr/>
        </p:nvSpPr>
        <p:spPr>
          <a:xfrm>
            <a:off x="608076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DeviceSecretProvider (eSignet)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generate / validate · vendor family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derived consent</a:t>
            </a:r>
            <a:endParaRPr lang="en-US" sz="1200" dirty="0"/>
          </a:p>
        </p:txBody>
      </p:sp>
      <p:sp>
        <p:nvSpPr>
          <p:cNvPr id="17" name="box"/>
          <p:cNvSpPr/>
          <p:nvPr/>
        </p:nvSpPr>
        <p:spPr>
          <a:xfrm>
            <a:off x="3429000" y="32004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3D4A63"/>
          </a:solidFill>
          <a:ln w="12700">
            <a:solidFill>
              <a:srgbClr val="3D4A63"/>
            </a:solidFill>
            <a:prstDash val="solid"/>
          </a:ln>
        </p:spPr>
      </p:sp>
      <p:sp>
        <p:nvSpPr>
          <p:cNvPr id="18" name="box-text"/>
          <p:cNvSpPr txBox="1"/>
          <p:nvPr/>
        </p:nvSpPr>
        <p:spPr>
          <a:xfrm>
            <a:off x="3429000" y="3200400"/>
            <a:ext cx="246888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Keymanager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sign (OIDC key) + encrypt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(DEVICE_SECRET_ENC)</a:t>
            </a:r>
            <a:endParaRPr lang="en-US" sz="1200" dirty="0"/>
          </a:p>
        </p:txBody>
      </p:sp>
      <p:sp>
        <p:nvSpPr>
          <p:cNvPr id="19" name="box"/>
          <p:cNvSpPr/>
          <p:nvPr/>
        </p:nvSpPr>
        <p:spPr>
          <a:xfrm>
            <a:off x="6080760" y="32004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3D4A63"/>
          </a:solidFill>
          <a:ln w="12700">
            <a:solidFill>
              <a:srgbClr val="3D4A63"/>
            </a:solidFill>
            <a:prstDash val="solid"/>
          </a:ln>
        </p:spPr>
      </p:sp>
      <p:sp>
        <p:nvSpPr>
          <p:cNvPr id="20" name="box-text"/>
          <p:cNvSpPr txBox="1"/>
          <p:nvPr/>
        </p:nvSpPr>
        <p:spPr>
          <a:xfrm>
            <a:off x="6080760" y="3200400"/>
            <a:ext cx="246888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Consent store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consent_detail + history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(derived consent audit)</a:t>
            </a:r>
            <a:endParaRPr lang="en-US" sz="1200" dirty="0"/>
          </a:p>
        </p:txBody>
      </p:sp>
      <p:sp>
        <p:nvSpPr>
          <p:cNvPr id="21" name="arrow"/>
          <p:cNvSpPr/>
          <p:nvPr/>
        </p:nvSpPr>
        <p:spPr>
          <a:xfrm>
            <a:off x="5897880" y="2194560"/>
            <a:ext cx="182880" cy="9144"/>
          </a:xfrm>
          <a:prstGeom prst="line">
            <a:avLst/>
          </a:prstGeom>
          <a:noFill/>
          <a:ln w="19050">
            <a:solidFill>
              <a:srgbClr val="3D4A63"/>
            </a:solidFill>
            <a:prstDash val="solid"/>
            <a:tailEnd type="triangle"/>
          </a:ln>
        </p:spPr>
      </p:sp>
      <p:sp>
        <p:nvSpPr>
          <p:cNvPr id="22" name="arrow"/>
          <p:cNvSpPr/>
          <p:nvPr/>
        </p:nvSpPr>
        <p:spPr>
          <a:xfrm>
            <a:off x="7315200" y="2743200"/>
            <a:ext cx="9144" cy="457200"/>
          </a:xfrm>
          <a:prstGeom prst="line">
            <a:avLst/>
          </a:prstGeom>
          <a:noFill/>
          <a:ln w="19050">
            <a:solidFill>
              <a:srgbClr val="3D4A63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 flipH="1">
            <a:off x="4937760" y="2743200"/>
            <a:ext cx="1463040" cy="457200"/>
          </a:xfrm>
          <a:prstGeom prst="line">
            <a:avLst/>
          </a:prstGeom>
          <a:noFill/>
          <a:ln w="19050">
            <a:solidFill>
              <a:srgbClr val="3D4A63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>
            <a:off x="2834640" y="2011680"/>
            <a:ext cx="594360" cy="9144"/>
          </a:xfrm>
          <a:prstGeom prst="line">
            <a:avLst/>
          </a:prstGeom>
          <a:noFill/>
          <a:ln w="19050">
            <a:solidFill>
              <a:srgbClr val="3D4A63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 flipV="1">
            <a:off x="2834640" y="2651760"/>
            <a:ext cx="594360" cy="1280160"/>
          </a:xfrm>
          <a:prstGeom prst="line">
            <a:avLst/>
          </a:prstGeom>
          <a:noFill/>
          <a:ln w="19050">
            <a:solidFill>
              <a:srgbClr val="3D4A6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Flow 1: super app login with device_sso</a:t>
            </a:r>
            <a:endParaRPr lang="en-US" sz="3000" dirty="0"/>
          </a:p>
        </p:txBody>
      </p:sp>
      <p:sp>
        <p:nvSpPr>
          <p:cNvPr id="3" name="badge-1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1B5E9E"/>
          </a:solidFill>
          <a:ln w="12700">
            <a:solidFill>
              <a:srgbClr val="1B5E9E"/>
            </a:solidFill>
            <a:prstDash val="solid"/>
          </a:ln>
        </p:spPr>
      </p:sp>
      <p:sp>
        <p:nvSpPr>
          <p:cNvPr id="4" name="badge-text-1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"/>
          <p:cNvSpPr txBox="1"/>
          <p:nvPr/>
        </p:nvSpPr>
        <p:spPr>
          <a:xfrm>
            <a:off x="960120" y="125272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 /oauth2/par — scope=openid profile email device_sso, dpop_jkt = thumbprint(Key A), PKCE, PS256 private_key_jwt</a:t>
            </a:r>
            <a:endParaRPr lang="en-US" sz="1200" dirty="0"/>
          </a:p>
        </p:txBody>
      </p:sp>
      <p:sp>
        <p:nvSpPr>
          <p:cNvPr id="6" name="badge-2"/>
          <p:cNvSpPr/>
          <p:nvPr/>
        </p:nvSpPr>
        <p:spPr>
          <a:xfrm>
            <a:off x="457200" y="1801368"/>
            <a:ext cx="384048" cy="384048"/>
          </a:xfrm>
          <a:prstGeom prst="ellipse">
            <a:avLst/>
          </a:prstGeom>
          <a:solidFill>
            <a:srgbClr val="1B5E9E"/>
          </a:solidFill>
          <a:ln w="12700">
            <a:solidFill>
              <a:srgbClr val="1B5E9E"/>
            </a:solidFill>
            <a:prstDash val="solid"/>
          </a:ln>
        </p:spPr>
      </p:sp>
      <p:sp>
        <p:nvSpPr>
          <p:cNvPr id="7" name="badge-text-2"/>
          <p:cNvSpPr txBox="1"/>
          <p:nvPr/>
        </p:nvSpPr>
        <p:spPr>
          <a:xfrm>
            <a:off x="45720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"/>
          <p:cNvSpPr txBox="1"/>
          <p:nvPr/>
        </p:nvSpPr>
        <p:spPr>
          <a:xfrm>
            <a:off x="960120" y="1819656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 Tab: eSignet OTP login and consent (the user chooses which claims to release)</a:t>
            </a:r>
            <a:endParaRPr lang="en-US" sz="1200" dirty="0"/>
          </a:p>
        </p:txBody>
      </p:sp>
      <p:sp>
        <p:nvSpPr>
          <p:cNvPr id="9" name="badge-3"/>
          <p:cNvSpPr/>
          <p:nvPr/>
        </p:nvSpPr>
        <p:spPr>
          <a:xfrm>
            <a:off x="457200" y="2368296"/>
            <a:ext cx="384048" cy="384048"/>
          </a:xfrm>
          <a:prstGeom prst="ellipse">
            <a:avLst/>
          </a:prstGeom>
          <a:solidFill>
            <a:srgbClr val="1B5E9E"/>
          </a:solidFill>
          <a:ln w="12700">
            <a:solidFill>
              <a:srgbClr val="1B5E9E"/>
            </a:solidFill>
            <a:prstDash val="solid"/>
          </a:ln>
        </p:spPr>
      </p:sp>
      <p:sp>
        <p:nvSpPr>
          <p:cNvPr id="10" name="badge-text-3"/>
          <p:cNvSpPr txBox="1"/>
          <p:nvPr/>
        </p:nvSpPr>
        <p:spPr>
          <a:xfrm>
            <a:off x="45720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"/>
          <p:cNvSpPr txBox="1"/>
          <p:nvPr/>
        </p:nvSpPr>
        <p:spPr>
          <a:xfrm>
            <a:off x="960120" y="238658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 /oauth2/token (authorization_code) with a DPoP proof by Key A</a:t>
            </a:r>
            <a:endParaRPr lang="en-US" sz="1200" dirty="0"/>
          </a:p>
        </p:txBody>
      </p:sp>
      <p:sp>
        <p:nvSpPr>
          <p:cNvPr id="12" name="badge-4"/>
          <p:cNvSpPr/>
          <p:nvPr/>
        </p:nvSpPr>
        <p:spPr>
          <a:xfrm>
            <a:off x="457200" y="2935224"/>
            <a:ext cx="384048" cy="384048"/>
          </a:xfrm>
          <a:prstGeom prst="ellipse">
            <a:avLst/>
          </a:prstGeom>
          <a:solidFill>
            <a:srgbClr val="E9641E"/>
          </a:solidFill>
          <a:ln w="12700">
            <a:solidFill>
              <a:srgbClr val="E9641E"/>
            </a:solidFill>
            <a:prstDash val="solid"/>
          </a:ln>
        </p:spPr>
      </p:sp>
      <p:sp>
        <p:nvSpPr>
          <p:cNvPr id="13" name="badge-text-4"/>
          <p:cNvSpPr txBox="1"/>
          <p:nvPr/>
        </p:nvSpPr>
        <p:spPr>
          <a:xfrm>
            <a:off x="45720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"/>
          <p:cNvSpPr txBox="1"/>
          <p:nvPr/>
        </p:nvSpPr>
        <p:spPr>
          <a:xfrm>
            <a:off x="960120" y="2953512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Engine checks the client is registered for device_sso and calls GenerateDeviceSecret(sub, auth_id, sid, client_id, scope, acr, claims, cnf.jkt)</a:t>
            </a:r>
            <a:endParaRPr lang="en-US" sz="1200" dirty="0"/>
          </a:p>
        </p:txBody>
      </p:sp>
      <p:sp>
        <p:nvSpPr>
          <p:cNvPr id="15" name="badge-5"/>
          <p:cNvSpPr/>
          <p:nvPr/>
        </p:nvSpPr>
        <p:spPr>
          <a:xfrm>
            <a:off x="457200" y="3502152"/>
            <a:ext cx="384048" cy="384048"/>
          </a:xfrm>
          <a:prstGeom prst="ellipse">
            <a:avLst/>
          </a:prstGeom>
          <a:solidFill>
            <a:srgbClr val="E9641E"/>
          </a:solidFill>
          <a:ln w="12700">
            <a:solidFill>
              <a:srgbClr val="E9641E"/>
            </a:solidFill>
            <a:prstDash val="solid"/>
          </a:ln>
        </p:spPr>
      </p:sp>
      <p:sp>
        <p:nvSpPr>
          <p:cNvPr id="16" name="badge-text-5"/>
          <p:cNvSpPr txBox="1"/>
          <p:nvPr/>
        </p:nvSpPr>
        <p:spPr>
          <a:xfrm>
            <a:off x="4572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"/>
          <p:cNvSpPr txBox="1"/>
          <p:nvPr/>
        </p:nvSpPr>
        <p:spPr>
          <a:xfrm>
            <a:off x="960120" y="3520440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eSignet signs the claims and encrypts the JWS to its component encryption key: an opaque device_secret</a:t>
            </a:r>
            <a:endParaRPr lang="en-US" sz="1200" dirty="0"/>
          </a:p>
        </p:txBody>
      </p:sp>
      <p:sp>
        <p:nvSpPr>
          <p:cNvPr id="18" name="badge-6"/>
          <p:cNvSpPr/>
          <p:nvPr/>
        </p:nvSpPr>
        <p:spPr>
          <a:xfrm>
            <a:off x="457200" y="4069080"/>
            <a:ext cx="384048" cy="384048"/>
          </a:xfrm>
          <a:prstGeom prst="ellipse">
            <a:avLst/>
          </a:prstGeom>
          <a:solidFill>
            <a:srgbClr val="E9641E"/>
          </a:solidFill>
          <a:ln w="12700">
            <a:solidFill>
              <a:srgbClr val="E9641E"/>
            </a:solidFill>
            <a:prstDash val="solid"/>
          </a:ln>
        </p:spPr>
      </p:sp>
      <p:sp>
        <p:nvSpPr>
          <p:cNvPr id="19" name="badge-text-6"/>
          <p:cNvSpPr txBox="1"/>
          <p:nvPr/>
        </p:nvSpPr>
        <p:spPr>
          <a:xfrm>
            <a:off x="4572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"/>
          <p:cNvSpPr txBox="1"/>
          <p:nvPr/>
        </p:nvSpPr>
        <p:spPr>
          <a:xfrm>
            <a:off x="960120" y="408736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Response: access_token (cnf.jkt), id_token (ds_hash, sid), device_secret — stored encrypted in the app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309360" y="1234440"/>
            <a:ext cx="2377440" cy="3337560"/>
          </a:xfrm>
          <a:prstGeom prst="roundRect">
            <a:avLst>
              <a:gd name="adj" fmla="val 4615"/>
            </a:avLst>
          </a:prstGeom>
          <a:solidFill>
            <a:srgbClr val="16213A"/>
          </a:solidFill>
          <a:ln w="9525">
            <a:solidFill>
              <a:srgbClr val="16213A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649224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id_token gains</a:t>
            </a:r>
            <a:endParaRPr lang="en-US" sz="1300" dirty="0"/>
          </a:p>
        </p:txBody>
      </p:sp>
      <p:sp>
        <p:nvSpPr>
          <p:cNvPr id="23" name="text"/>
          <p:cNvSpPr txBox="1"/>
          <p:nvPr/>
        </p:nvSpPr>
        <p:spPr>
          <a:xfrm>
            <a:off x="6492240" y="1737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ds_hash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BASE64URL(SHA-256(device_secret))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sid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shared with the device secret</a:t>
            </a:r>
            <a:endParaRPr lang="en-US" sz="1100" dirty="0"/>
          </a:p>
        </p:txBody>
      </p:sp>
      <p:sp>
        <p:nvSpPr>
          <p:cNvPr id="24" name="text"/>
          <p:cNvSpPr txBox="1"/>
          <p:nvPr/>
        </p:nvSpPr>
        <p:spPr>
          <a:xfrm>
            <a:off x="64922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device_secret carries</a:t>
            </a:r>
            <a:endParaRPr lang="en-US" sz="1300" dirty="0"/>
          </a:p>
        </p:txBody>
      </p:sp>
      <p:sp>
        <p:nvSpPr>
          <p:cNvPr id="25" name="text"/>
          <p:cNvSpPr txBox="1"/>
          <p:nvPr/>
        </p:nvSpPr>
        <p:spPr>
          <a:xfrm>
            <a:off x="6492240" y="34290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iss · sub · auth_id · sid · client_id · scope · acr · claims · cnf.jkt · iat · exp · jti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Flow 2: child app silent sign-in</a:t>
            </a:r>
            <a:endParaRPr lang="en-US" sz="3000" dirty="0"/>
          </a:p>
        </p:txBody>
      </p:sp>
      <p:sp>
        <p:nvSpPr>
          <p:cNvPr id="3" name="badge-1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badge-text-1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"/>
          <p:cNvSpPr txBox="1"/>
          <p:nvPr/>
        </p:nvSpPr>
        <p:spPr>
          <a:xfrm>
            <a:off x="960120" y="125272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Child asks the super app (ContentProvider, signature-level permission): id_token, device_secret, DPoP proof for POST /oauth2/token</a:t>
            </a:r>
            <a:endParaRPr lang="en-US" sz="1200" dirty="0"/>
          </a:p>
        </p:txBody>
      </p:sp>
      <p:sp>
        <p:nvSpPr>
          <p:cNvPr id="6" name="badge-2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badge-text-2"/>
          <p:cNvSpPr txBox="1"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"/>
          <p:cNvSpPr txBox="1"/>
          <p:nvPr/>
        </p:nvSpPr>
        <p:spPr>
          <a:xfrm>
            <a:off x="960120" y="189280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Super app re-checks the caller's signing certificate and signs the proof with Key A — the key never leaves it</a:t>
            </a:r>
            <a:endParaRPr lang="en-US" sz="1200" dirty="0"/>
          </a:p>
        </p:txBody>
      </p:sp>
      <p:sp>
        <p:nvSpPr>
          <p:cNvPr id="9" name="badge-3"/>
          <p:cNvSpPr/>
          <p:nvPr/>
        </p:nvSpPr>
        <p:spPr>
          <a:xfrm>
            <a:off x="457200" y="251460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badge-text-3"/>
          <p:cNvSpPr txBox="1"/>
          <p:nvPr/>
        </p:nvSpPr>
        <p:spPr>
          <a:xfrm>
            <a:off x="4572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"/>
          <p:cNvSpPr txBox="1"/>
          <p:nvPr/>
        </p:nvSpPr>
        <p:spPr>
          <a:xfrm>
            <a:off x="960120" y="253288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 /oauth2/token grant_type=token-exchange, subject_token=id_token, actor_token=device_secret, scope=openid profile email</a:t>
            </a:r>
            <a:endParaRPr lang="en-US" sz="1200" dirty="0"/>
          </a:p>
        </p:txBody>
      </p:sp>
      <p:sp>
        <p:nvSpPr>
          <p:cNvPr id="12" name="badge-4"/>
          <p:cNvSpPr/>
          <p:nvPr/>
        </p:nvSpPr>
        <p:spPr>
          <a:xfrm>
            <a:off x="457200" y="315468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badge-text-4"/>
          <p:cNvSpPr txBox="1"/>
          <p:nvPr/>
        </p:nvSpPr>
        <p:spPr>
          <a:xfrm>
            <a:off x="4572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"/>
          <p:cNvSpPr txBox="1"/>
          <p:nvPr/>
        </p:nvSpPr>
        <p:spPr>
          <a:xfrm>
            <a:off x="960120" y="317296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Engine: client enabled · secret decrypted and verified · ds_hash · sid · sub · cnf.jkt = DPoP key · vendor family · scope ⊆ grant · consent</a:t>
            </a:r>
            <a:endParaRPr lang="en-US" sz="1200" dirty="0"/>
          </a:p>
        </p:txBody>
      </p:sp>
      <p:sp>
        <p:nvSpPr>
          <p:cNvPr id="15" name="badge-5"/>
          <p:cNvSpPr/>
          <p:nvPr/>
        </p:nvSpPr>
        <p:spPr>
          <a:xfrm>
            <a:off x="457200" y="379476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badge-text-5"/>
          <p:cNvSpPr txBox="1"/>
          <p:nvPr/>
        </p:nvSpPr>
        <p:spPr>
          <a:xfrm>
            <a:off x="457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"/>
          <p:cNvSpPr txBox="1"/>
          <p:nvPr/>
        </p:nvSpPr>
        <p:spPr>
          <a:xfrm>
            <a:off x="960120" y="381304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Response: DPoP-bound access_token with act.sub = super app; userinfo returns the consented claims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309360" y="1234440"/>
            <a:ext cx="2377440" cy="3337560"/>
          </a:xfrm>
          <a:prstGeom prst="roundRect">
            <a:avLst>
              <a:gd name="adj" fmla="val 4615"/>
            </a:avLst>
          </a:prstGeom>
          <a:solidFill>
            <a:srgbClr val="F3F5F9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649224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Seen on the phone</a:t>
            </a:r>
            <a:endParaRPr lang="en-US" sz="1300" dirty="0"/>
          </a:p>
        </p:txBody>
      </p:sp>
      <p:sp>
        <p:nvSpPr>
          <p:cNvPr id="20" name="text"/>
          <p:cNvSpPr txBox="1"/>
          <p:nvPr/>
        </p:nvSpPr>
        <p:spPr>
          <a:xfrm>
            <a:off x="6492240" y="1783080"/>
            <a:ext cx="2103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“Signed in silently in 185 ms”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 browser. No OTP. No consent screen.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act.sub = mosip-super-app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cnf.jkt = Key 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bindings make the hand-off safe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ds_hash</a:t>
            </a:r>
            <a:endParaRPr lang="en-US" sz="1500" dirty="0"/>
          </a:p>
        </p:txBody>
      </p:sp>
      <p:sp>
        <p:nvSpPr>
          <p:cNvPr id="5" name="text"/>
          <p:cNvSpPr txBox="1"/>
          <p:nvPr/>
        </p:nvSpPr>
        <p:spPr>
          <a:xfrm>
            <a:off x="64008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id_token names exactly one device secret. Swap either and the exchange fails.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329184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347472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sid</a:t>
            </a:r>
            <a:endParaRPr lang="en-US" sz="1500" dirty="0"/>
          </a:p>
        </p:txBody>
      </p:sp>
      <p:sp>
        <p:nvSpPr>
          <p:cNvPr id="8" name="text"/>
          <p:cNvSpPr txBox="1"/>
          <p:nvPr/>
        </p:nvSpPr>
        <p:spPr>
          <a:xfrm>
            <a:off x="347472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Both tokens descend from the same authentication (session id, or the authorization id).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612648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630936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cnf.jkt = DPoP key</a:t>
            </a:r>
            <a:endParaRPr lang="en-US" sz="1500" dirty="0"/>
          </a:p>
        </p:txBody>
      </p:sp>
      <p:sp>
        <p:nvSpPr>
          <p:cNvPr id="11" name="text"/>
          <p:cNvSpPr txBox="1"/>
          <p:nvPr/>
        </p:nvSpPr>
        <p:spPr>
          <a:xfrm>
            <a:off x="630936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Only a proof from Key A redeems the secret; a stolen pair is useless without the hardware key.</a:t>
            </a:r>
            <a:endParaRPr lang="en-US" sz="1100" dirty="0"/>
          </a:p>
        </p:txBody>
      </p:sp>
      <p:sp>
        <p:nvSpPr>
          <p:cNvPr id="12" name="card"/>
          <p:cNvSpPr/>
          <p:nvPr/>
        </p:nvSpPr>
        <p:spPr>
          <a:xfrm>
            <a:off x="45720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Vendor family</a:t>
            </a:r>
            <a:endParaRPr lang="en-US" sz="1500" dirty="0"/>
          </a:p>
        </p:txBody>
      </p:sp>
      <p:sp>
        <p:nvSpPr>
          <p:cNvPr id="14" name="text"/>
          <p:cNvSpPr txBox="1"/>
          <p:nvPr/>
        </p:nvSpPr>
        <p:spPr>
          <a:xfrm>
            <a:off x="64008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relying party or an allow-listed sibling, registered for device_sso. Others get invalid_grant.</a:t>
            </a:r>
            <a:endParaRPr lang="en-US" sz="1100" dirty="0"/>
          </a:p>
        </p:txBody>
      </p:sp>
      <p:sp>
        <p:nvSpPr>
          <p:cNvPr id="15" name="card"/>
          <p:cNvSpPr/>
          <p:nvPr/>
        </p:nvSpPr>
        <p:spPr>
          <a:xfrm>
            <a:off x="329184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34747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Scope ⊆ grant</a:t>
            </a:r>
            <a:endParaRPr lang="en-US" sz="1500" dirty="0"/>
          </a:p>
        </p:txBody>
      </p:sp>
      <p:sp>
        <p:nvSpPr>
          <p:cNvPr id="17" name="text"/>
          <p:cNvSpPr txBox="1"/>
          <p:nvPr/>
        </p:nvSpPr>
        <p:spPr>
          <a:xfrm>
            <a:off x="347472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child never exceeds what the super app was granted; device_sso itself is never exchangeable.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612648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63093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Derived consent</a:t>
            </a:r>
            <a:endParaRPr lang="en-US" sz="1500" dirty="0"/>
          </a:p>
        </p:txBody>
      </p:sp>
      <p:sp>
        <p:nvSpPr>
          <p:cNvPr id="20" name="text"/>
          <p:cNvSpPr txBox="1"/>
          <p:nvPr/>
        </p:nvSpPr>
        <p:spPr>
          <a:xfrm>
            <a:off x="630936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Only claims the user accepted for the super app are released; anything else is interaction_required.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Bonus: re-consent instead of silent over-sharing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super app's consent is reused, never widened. eSignet compares the child's required claims with what the user accepted and either derives a consent record for the child (with an audit row) or refuses the silent path.</a:t>
            </a:r>
            <a:endParaRPr lang="en-US" sz="1400" dirty="0"/>
          </a:p>
        </p:txBody>
      </p:sp>
      <p:sp>
        <p:nvSpPr>
          <p:cNvPr id="4" name="box"/>
          <p:cNvSpPr/>
          <p:nvPr/>
        </p:nvSpPr>
        <p:spPr>
          <a:xfrm>
            <a:off x="457200" y="22860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box-text"/>
          <p:cNvSpPr txBox="1"/>
          <p:nvPr/>
        </p:nvSpPr>
        <p:spPr>
          <a:xfrm>
            <a:off x="45720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Child requests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openid email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2468880" y="2697480"/>
            <a:ext cx="548640" cy="9144"/>
          </a:xfrm>
          <a:prstGeom prst="line">
            <a:avLst/>
          </a:prstGeom>
          <a:noFill/>
          <a:ln w="19050">
            <a:solidFill>
              <a:srgbClr val="3D4A63"/>
            </a:solidFill>
            <a:prstDash val="solid"/>
            <a:tailEnd type="triangle"/>
          </a:ln>
        </p:spPr>
      </p:sp>
      <p:sp>
        <p:nvSpPr>
          <p:cNvPr id="7" name="box"/>
          <p:cNvSpPr/>
          <p:nvPr/>
        </p:nvSpPr>
        <p:spPr>
          <a:xfrm>
            <a:off x="3017520" y="228600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3D4A63"/>
          </a:solidFill>
          <a:ln w="12700">
            <a:solidFill>
              <a:srgbClr val="3D4A63"/>
            </a:solidFill>
            <a:prstDash val="solid"/>
          </a:ln>
        </p:spPr>
      </p:sp>
      <p:sp>
        <p:nvSpPr>
          <p:cNvPr id="8" name="box-text"/>
          <p:cNvSpPr txBox="1"/>
          <p:nvPr/>
        </p:nvSpPr>
        <p:spPr>
          <a:xfrm>
            <a:off x="3017520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email was declined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on the super app's consent</a:t>
            </a:r>
            <a:endParaRPr lang="en-US" sz="1200" dirty="0"/>
          </a:p>
        </p:txBody>
      </p:sp>
      <p:sp>
        <p:nvSpPr>
          <p:cNvPr id="9" name="arrow"/>
          <p:cNvSpPr/>
          <p:nvPr/>
        </p:nvSpPr>
        <p:spPr>
          <a:xfrm>
            <a:off x="5669280" y="2697480"/>
            <a:ext cx="548640" cy="9144"/>
          </a:xfrm>
          <a:prstGeom prst="line">
            <a:avLst/>
          </a:prstGeom>
          <a:noFill/>
          <a:ln w="19050">
            <a:solidFill>
              <a:srgbClr val="3D4A63"/>
            </a:solidFill>
            <a:prstDash val="solid"/>
            <a:tailEnd type="triangle"/>
          </a:ln>
        </p:spPr>
      </p:sp>
      <p:sp>
        <p:nvSpPr>
          <p:cNvPr id="10" name="box"/>
          <p:cNvSpPr/>
          <p:nvPr/>
        </p:nvSpPr>
        <p:spPr>
          <a:xfrm>
            <a:off x="6217920" y="228600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E9641E"/>
          </a:solidFill>
          <a:ln w="12700">
            <a:solidFill>
              <a:srgbClr val="E9641E"/>
            </a:solidFill>
            <a:prstDash val="solid"/>
          </a:ln>
        </p:spPr>
      </p:sp>
      <p:sp>
        <p:nvSpPr>
          <p:cNvPr id="11" name="box-text"/>
          <p:cNvSpPr txBox="1"/>
          <p:nvPr/>
        </p:nvSpPr>
        <p:spPr>
          <a:xfrm>
            <a:off x="6217920" y="2286000"/>
            <a:ext cx="24688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interaction_required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“claims not consented: email”</a:t>
            </a:r>
            <a:endParaRPr lang="en-US" sz="1200" dirty="0"/>
          </a:p>
        </p:txBody>
      </p:sp>
      <p:sp>
        <p:nvSpPr>
          <p:cNvPr id="12" name="box"/>
          <p:cNvSpPr/>
          <p:nvPr/>
        </p:nvSpPr>
        <p:spPr>
          <a:xfrm>
            <a:off x="457200" y="342900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box-text"/>
          <p:cNvSpPr txBox="1"/>
          <p:nvPr/>
        </p:nvSpPr>
        <p:spPr>
          <a:xfrm>
            <a:off x="457200" y="3429000"/>
            <a:ext cx="20116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Child requests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openid profile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2468880" y="3840480"/>
            <a:ext cx="548640" cy="9144"/>
          </a:xfrm>
          <a:prstGeom prst="line">
            <a:avLst/>
          </a:prstGeom>
          <a:noFill/>
          <a:ln w="19050">
            <a:solidFill>
              <a:srgbClr val="3D4A63"/>
            </a:solidFill>
            <a:prstDash val="solid"/>
            <a:tailEnd type="triangle"/>
          </a:ln>
        </p:spPr>
      </p:sp>
      <p:sp>
        <p:nvSpPr>
          <p:cNvPr id="15" name="box"/>
          <p:cNvSpPr/>
          <p:nvPr/>
        </p:nvSpPr>
        <p:spPr>
          <a:xfrm>
            <a:off x="3017520" y="3429000"/>
            <a:ext cx="2651760" cy="822960"/>
          </a:xfrm>
          <a:prstGeom prst="roundRect">
            <a:avLst>
              <a:gd name="adj" fmla="val 11111"/>
            </a:avLst>
          </a:prstGeom>
          <a:solidFill>
            <a:srgbClr val="3D4A63"/>
          </a:solidFill>
          <a:ln w="12700">
            <a:solidFill>
              <a:srgbClr val="3D4A63"/>
            </a:solidFill>
            <a:prstDash val="solid"/>
          </a:ln>
        </p:spPr>
      </p:sp>
      <p:sp>
        <p:nvSpPr>
          <p:cNvPr id="16" name="box-text"/>
          <p:cNvSpPr txBox="1"/>
          <p:nvPr/>
        </p:nvSpPr>
        <p:spPr>
          <a:xfrm>
            <a:off x="3017520" y="3429000"/>
            <a:ext cx="26517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name was accepted at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super app's consent</a:t>
            </a:r>
            <a:endParaRPr lang="en-US" sz="1200" dirty="0"/>
          </a:p>
        </p:txBody>
      </p:sp>
      <p:sp>
        <p:nvSpPr>
          <p:cNvPr id="17" name="arrow"/>
          <p:cNvSpPr/>
          <p:nvPr/>
        </p:nvSpPr>
        <p:spPr>
          <a:xfrm>
            <a:off x="5669280" y="3840480"/>
            <a:ext cx="548640" cy="9144"/>
          </a:xfrm>
          <a:prstGeom prst="line">
            <a:avLst/>
          </a:prstGeom>
          <a:noFill/>
          <a:ln w="19050">
            <a:solidFill>
              <a:srgbClr val="3D4A63"/>
            </a:solidFill>
            <a:prstDash val="solid"/>
            <a:tailEnd type="triangle"/>
          </a:ln>
        </p:spPr>
      </p:sp>
      <p:sp>
        <p:nvSpPr>
          <p:cNvPr id="18" name="box"/>
          <p:cNvSpPr/>
          <p:nvPr/>
        </p:nvSpPr>
        <p:spPr>
          <a:xfrm>
            <a:off x="6217920" y="342900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1B5E9E"/>
          </a:solidFill>
          <a:ln w="12700">
            <a:solidFill>
              <a:srgbClr val="1B5E9E"/>
            </a:solidFill>
            <a:prstDash val="solid"/>
          </a:ln>
        </p:spPr>
      </p:sp>
      <p:sp>
        <p:nvSpPr>
          <p:cNvPr id="19" name="box-text"/>
          <p:cNvSpPr txBox="1"/>
          <p:nvPr/>
        </p:nvSpPr>
        <p:spPr>
          <a:xfrm>
            <a:off x="6217920" y="3429000"/>
            <a:ext cx="24688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Silent sign-in; consent recorded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for the child app + history row</a:t>
            </a:r>
            <a:endParaRPr lang="en-US" sz="1200" dirty="0"/>
          </a:p>
        </p:txBody>
      </p:sp>
      <p:sp>
        <p:nvSpPr>
          <p:cNvPr id="20" name="text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On interaction_required (or invalid_scope) the child app explains why and opens the eSignet consent flow for its own client.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Every mandatory task, plus the bonus</a:t>
            </a:r>
            <a:endParaRPr lang="en-US" sz="3000" dirty="0"/>
          </a:p>
        </p:txBody>
      </p:sp>
      <p:graphicFrame>
        <p:nvGraphicFramePr>
          <p:cNvPr id="10" name="tas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749040"/>
                <a:gridCol w="292608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#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Task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Where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Status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device_sso scope on the authorize request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eSignet config · ThunderID protocol scope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done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Token endpoint validates the scope for the client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ThunderID auth-code grant · eSignet provider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done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3–4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DeviceSecretProvider interface; generate / validate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ThunderID providers · eSignet keymanager (JWS+JWE)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done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5–6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Token endpoint issues and returns the device secret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ThunderID auth-code grant · token response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done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7–8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Child app fetches credentials over IPC and calls token exchange with Key A DPoP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Android SDK + apps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done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Token exchange: device-secret actor, ds_hash, sid, client enablement, cnf.jkt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ThunderID token exchange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done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10a / 10b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Child scope ⊆ super scope; device_sso refused on exchange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ThunderID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done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Bonus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Re-consent in the child app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ThunderID + eSignet consent + apps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done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we built and how we proved it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685800" y="14173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</a:t>
            </a:r>
            <a:endParaRPr lang="en-US" sz="3600" dirty="0"/>
          </a:p>
        </p:txBody>
      </p:sp>
      <p:sp>
        <p:nvSpPr>
          <p:cNvPr id="5" name="text"/>
          <p:cNvSpPr txBox="1"/>
          <p:nvPr/>
        </p:nvSpPr>
        <p:spPr>
          <a:xfrm>
            <a:off x="2194560" y="1463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upstream pull requests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thunder-id/thunderid · mosip/esignet develop-go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4663440" y="12344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4892040" y="14173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35/35</a:t>
            </a:r>
            <a:endParaRPr lang="en-US" sz="3600" dirty="0"/>
          </a:p>
        </p:txBody>
      </p:sp>
      <p:sp>
        <p:nvSpPr>
          <p:cNvPr id="8" name="text"/>
          <p:cNvSpPr txBox="1"/>
          <p:nvPr/>
        </p:nvSpPr>
        <p:spPr>
          <a:xfrm>
            <a:off x="6400800" y="1463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end-to-end checks against a live eSignet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incl. every negative case and re-consent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57200" y="29260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685800" y="31089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50+</a:t>
            </a:r>
            <a:endParaRPr lang="en-US" sz="3600" dirty="0"/>
          </a:p>
        </p:txBody>
      </p:sp>
      <p:sp>
        <p:nvSpPr>
          <p:cNvPr id="11" name="text"/>
          <p:cNvSpPr txBox="1"/>
          <p:nvPr/>
        </p:nvSpPr>
        <p:spPr>
          <a:xfrm>
            <a:off x="2194560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new unit tests across the engine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and the eSignet provider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"/>
          <p:cNvSpPr txBox="1"/>
          <p:nvPr/>
        </p:nvSpPr>
        <p:spPr>
          <a:xfrm>
            <a:off x="4892040" y="31089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"/>
          <p:cNvSpPr txBox="1"/>
          <p:nvPr/>
        </p:nvSpPr>
        <p:spPr>
          <a:xfrm>
            <a:off x="6400800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Android modules: SDK, Vendor Wallet,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Vendor Health, one vendor certificate</a:t>
            </a:r>
            <a:endParaRPr lang="en-US" sz="1200" dirty="0"/>
          </a:p>
        </p:txBody>
      </p:sp>
      <p:sp>
        <p:nvSpPr>
          <p:cNvPr id="15" name="text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Also: Postman collection (20 requests), design + API documentation, OpenAPI update, configuration reference, demo script.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reference apps show relying parties what to build</a:t>
            </a:r>
            <a:endParaRPr lang="en-US" sz="3000" dirty="0"/>
          </a:p>
        </p:txBody>
      </p:sp>
      <p:pic>
        <p:nvPicPr>
          <p:cNvPr id="3" name="wallet-screenshot" descr="/Users/anurag/MOSIP hack/docs/images/wallet-signed-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554480" cy="3474720"/>
          </a:xfrm>
          <a:prstGeom prst="rect">
            <a:avLst/>
          </a:prstGeom>
        </p:spPr>
      </p:pic>
      <p:pic>
        <p:nvPicPr>
          <p:cNvPr id="4" name="login-screenshot" descr="/Users/anurag/MOSIP hack/docs/images/esignet-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188720"/>
            <a:ext cx="1554480" cy="3474720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4023360" y="1188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nativesso-sdk: PAR/PKCE/DPoP client, Key A in the Android Keystore, PS256 private_key_jwt, encrypted session store, IPC contract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Vendor Wallet exports a ContentProvider behind a signature-level permission and re-checks the caller's certificate on every call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Vendor Health never holds a key: every DPoP proof is signed by the Wallet, so its token is bound to the same hardware key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On-screen details for the demo: sid, ds_hash, SHA-256 of the stored secret, act.sub, cnf.jkt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Fallback to interactive consent when eSignet answers interaction_required or invalid_scope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Upstream path and what comes next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Upstream contributions</a:t>
            </a:r>
            <a:endParaRPr lang="en-US" sz="1500" dirty="0"/>
          </a:p>
        </p:txBody>
      </p:sp>
      <p:sp>
        <p:nvSpPr>
          <p:cNvPr id="5" name="bullets"/>
          <p:cNvSpPr txBox="1"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thunder-id/thunderid: provider contracts, device-secret issuance, token exchange with device-secret actor tokens, consent hook (DCO signed-off)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mosip/esignet develop-go: DeviceSecretProvider, derived consent, token_exchange clients, config, docs (DCO signed-off)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Plus an eSignet community fix: #2555 (unrecognised consent purposeName)</a:t>
            </a:r>
            <a:endParaRPr lang="en-US" sz="115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Natural follow-ups</a:t>
            </a:r>
            <a:endParaRPr lang="en-US" sz="1500" dirty="0"/>
          </a:p>
        </p:txBody>
      </p:sp>
      <p:sp>
        <p:nvSpPr>
          <p:cNvPr id="8" name="bullets"/>
          <p:cNvSpPr txBox="1"/>
          <p:nvPr/>
        </p:nvSpPr>
        <p:spPr>
          <a:xfrm>
            <a:off x="4846320" y="178308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Revoke a device secret family on super-app sign-out (jti is signed and available)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Single-use jti tracking where a deployment wants 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 consent-screen line item explaining device_sso to the citizen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iOS reference app (App Groups + Keychain access groups)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MOSIP IDA: encrypted KYC stays opaque; sibling apps share the relying-party decryption key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8C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THANK YOU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One trusted login, reused securely across every app in the family.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Code, tests, Postman collection, documentation and the demo are in the submission repository. Try it: docker compose up, ./make.sh run, python3 tests/native_sso_e2e.py.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ignet Native SSO">
  <a:themeElements>
    <a:clrScheme name="eSignet Native SSO">
      <a:dk1>
        <a:srgbClr val="16213A"/>
      </a:dk1>
      <a:lt1>
        <a:srgbClr val="FFFFFF"/>
      </a:lt1>
      <a:dk2>
        <a:srgbClr val="3D4A63"/>
      </a:dk2>
      <a:lt2>
        <a:srgbClr val="F3F5F9"/>
      </a:lt2>
      <a:accent1>
        <a:srgbClr val="E9641E"/>
      </a:accent1>
      <a:accent2>
        <a:srgbClr val="1B5E9E"/>
      </a:accent2>
      <a:accent3>
        <a:srgbClr val="2E7D32"/>
      </a:accent3>
      <a:accent4>
        <a:srgbClr val="F4A523"/>
      </a:accent4>
      <a:accent5>
        <a:srgbClr val="9AA8C2"/>
      </a:accent5>
      <a:accent6>
        <a:srgbClr val="C2410C"/>
      </a:accent6>
      <a:hlink>
        <a:srgbClr val="1B5E9E"/>
      </a:hlink>
      <a:folHlink>
        <a:srgbClr val="9AA8C2"/>
      </a:folHlink>
    </a:clrScheme>
    <a:fontScheme name="eSignet Native SS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SSO in eSignet (Go) for Mobile Apps</dc:title>
  <dc:subject>PptxGenJS Presentation</dc:subject>
  <dc:creator>Anurag Thakur</dc:creator>
  <cp:lastModifiedBy>Anurag Thakur</cp:lastModifiedBy>
  <cp:revision>1</cp:revision>
  <dcterms:created xsi:type="dcterms:W3CDTF">2026-10-21T12:43:58Z</dcterms:created>
  <dcterms:modified xsi:type="dcterms:W3CDTF">2026-10-21T12:43:58Z</dcterms:modified>
</cp:coreProperties>
</file>